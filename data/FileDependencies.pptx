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9" r:id="rId2"/>
    <p:sldId id="257" r:id="rId3"/>
    <p:sldId id="258" r:id="rId4"/>
  </p:sldIdLst>
  <p:sldSz cx="1440021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61" autoAdjust="0"/>
    <p:restoredTop sz="94660"/>
  </p:normalViewPr>
  <p:slideViewPr>
    <p:cSldViewPr snapToGrid="0">
      <p:cViewPr>
        <p:scale>
          <a:sx n="70" d="100"/>
          <a:sy n="70" d="100"/>
        </p:scale>
        <p:origin x="258" y="-2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2356703"/>
            <a:ext cx="12240181" cy="501340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7563446"/>
            <a:ext cx="10800160" cy="3476717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8DED1-D688-430D-8A61-4AA6F9156A45}" type="datetimeFigureOut">
              <a:rPr lang="es-ES" smtClean="0"/>
              <a:t>02/01/2018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BAD6-C7F1-4994-8660-F25F8C15E2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140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8DED1-D688-430D-8A61-4AA6F9156A45}" type="datetimeFigureOut">
              <a:rPr lang="es-ES" smtClean="0"/>
              <a:t>02/01/2018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BAD6-C7F1-4994-8660-F25F8C15E2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080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3590057"/>
            <a:ext cx="12420184" cy="5990088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9636813"/>
            <a:ext cx="12420184" cy="3150046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/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8DED1-D688-430D-8A61-4AA6F9156A45}" type="datetimeFigureOut">
              <a:rPr lang="es-ES" smtClean="0"/>
              <a:t>02/01/2018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BAD6-C7F1-4994-8660-F25F8C15E2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6172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3833390"/>
            <a:ext cx="6120091" cy="913680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3833390"/>
            <a:ext cx="6120091" cy="913680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8DED1-D688-430D-8A61-4AA6F9156A45}" type="datetimeFigureOut">
              <a:rPr lang="es-ES" smtClean="0"/>
              <a:t>02/01/2018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BAD6-C7F1-4994-8660-F25F8C15E2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0201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66681"/>
            <a:ext cx="12420184" cy="2783376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3530053"/>
            <a:ext cx="6091964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5260078"/>
            <a:ext cx="6091964" cy="773678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3530053"/>
            <a:ext cx="6121966" cy="1730025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5260078"/>
            <a:ext cx="6121966" cy="773678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8DED1-D688-430D-8A61-4AA6F9156A45}" type="datetimeFigureOut">
              <a:rPr lang="es-ES" smtClean="0"/>
              <a:t>02/01/2018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BAD6-C7F1-4994-8660-F25F8C15E2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1050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8DED1-D688-430D-8A61-4AA6F9156A45}" type="datetimeFigureOut">
              <a:rPr lang="es-ES" smtClean="0"/>
              <a:t>02/01/2018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BAD6-C7F1-4994-8660-F25F8C15E2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2796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8DED1-D688-430D-8A61-4AA6F9156A45}" type="datetimeFigureOut">
              <a:rPr lang="es-ES" smtClean="0"/>
              <a:t>02/01/2018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BAD6-C7F1-4994-8660-F25F8C15E2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3632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2073367"/>
            <a:ext cx="7290108" cy="10233485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8DED1-D688-430D-8A61-4AA6F9156A45}" type="datetimeFigureOut">
              <a:rPr lang="es-ES" smtClean="0"/>
              <a:t>02/01/2018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BAD6-C7F1-4994-8660-F25F8C15E2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6736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960014"/>
            <a:ext cx="4644444" cy="3360050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2073367"/>
            <a:ext cx="7290108" cy="10233485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320064"/>
            <a:ext cx="4644444" cy="8003453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8DED1-D688-430D-8A61-4AA6F9156A45}" type="datetimeFigureOut">
              <a:rPr lang="es-ES" smtClean="0"/>
              <a:t>02/01/2018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BAD6-C7F1-4994-8660-F25F8C15E2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0862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8DED1-D688-430D-8A61-4AA6F9156A45}" type="datetimeFigureOut">
              <a:rPr lang="es-ES" smtClean="0"/>
              <a:t>02/01/2018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BAD6-C7F1-4994-8660-F25F8C15E2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3065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766678"/>
            <a:ext cx="3105046" cy="1220351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766678"/>
            <a:ext cx="9135135" cy="12203515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8DED1-D688-430D-8A61-4AA6F9156A45}" type="datetimeFigureOut">
              <a:rPr lang="es-ES" smtClean="0"/>
              <a:t>02/01/2018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BAD6-C7F1-4994-8660-F25F8C15E2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4116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766681"/>
            <a:ext cx="12420184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3833390"/>
            <a:ext cx="12420184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8DED1-D688-430D-8A61-4AA6F9156A45}" type="datetimeFigureOut">
              <a:rPr lang="es-ES" smtClean="0"/>
              <a:t>02/01/2018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3346867"/>
            <a:ext cx="4860072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3346867"/>
            <a:ext cx="3240048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0BAD6-C7F1-4994-8660-F25F8C15E2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3884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9155775" y="8340241"/>
            <a:ext cx="8598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Population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4271733" y="8340241"/>
            <a:ext cx="12636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FJSPClassRegister</a:t>
            </a:r>
            <a:endParaRPr lang="es-ES" sz="1200" dirty="0">
              <a:solidFill>
                <a:srgbClr val="00B050"/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928930" y="7688205"/>
            <a:ext cx="6963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Encoder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8527729" y="10811667"/>
            <a:ext cx="7150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Creation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7510001" y="10811667"/>
            <a:ext cx="7987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FF0000"/>
                </a:solidFill>
              </a:rPr>
              <a:t>Crossover</a:t>
            </a:r>
          </a:p>
        </p:txBody>
      </p:sp>
      <p:sp>
        <p:nvSpPr>
          <p:cNvPr id="27" name="CuadroTexto 26"/>
          <p:cNvSpPr txBox="1"/>
          <p:nvPr/>
        </p:nvSpPr>
        <p:spPr>
          <a:xfrm>
            <a:off x="922974" y="8340241"/>
            <a:ext cx="7123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Decoder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35" name="CuadroTexto 34"/>
          <p:cNvSpPr txBox="1"/>
          <p:nvPr/>
        </p:nvSpPr>
        <p:spPr>
          <a:xfrm>
            <a:off x="4630128" y="2858069"/>
            <a:ext cx="10192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TimeWindow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4183845" y="1492229"/>
            <a:ext cx="6832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heading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6467979" y="2272883"/>
            <a:ext cx="4299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FF0000"/>
                </a:solidFill>
              </a:rPr>
              <a:t>TFN</a:t>
            </a:r>
          </a:p>
        </p:txBody>
      </p:sp>
      <p:sp>
        <p:nvSpPr>
          <p:cNvPr id="44" name="CuadroTexto 43"/>
          <p:cNvSpPr txBox="1"/>
          <p:nvPr/>
        </p:nvSpPr>
        <p:spPr>
          <a:xfrm>
            <a:off x="4211369" y="3427343"/>
            <a:ext cx="1835502" cy="27699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7030A0"/>
                </a:solidFill>
              </a:rPr>
              <a:t>TimeWindowClassRegister</a:t>
            </a:r>
            <a:endParaRPr lang="es-ES" sz="1200" dirty="0">
              <a:solidFill>
                <a:srgbClr val="7030A0"/>
              </a:solidFill>
            </a:endParaRPr>
          </a:p>
        </p:txBody>
      </p:sp>
      <p:sp>
        <p:nvSpPr>
          <p:cNvPr id="48" name="CuadroTexto 47"/>
          <p:cNvSpPr txBox="1"/>
          <p:nvPr/>
        </p:nvSpPr>
        <p:spPr>
          <a:xfrm>
            <a:off x="526679" y="5996376"/>
            <a:ext cx="8799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SharedVars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8923645" y="5996376"/>
            <a:ext cx="1013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ScheduleFJSP</a:t>
            </a:r>
            <a:endParaRPr lang="es-ES" sz="1200" dirty="0">
              <a:solidFill>
                <a:srgbClr val="00B050"/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583604" y="6886438"/>
            <a:ext cx="7922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FF0000"/>
                </a:solidFill>
              </a:rPr>
              <a:t>Individual</a:t>
            </a:r>
          </a:p>
        </p:txBody>
      </p:sp>
      <p:sp>
        <p:nvSpPr>
          <p:cNvPr id="60" name="CuadroTexto 59"/>
          <p:cNvSpPr txBox="1"/>
          <p:nvPr/>
        </p:nvSpPr>
        <p:spPr>
          <a:xfrm>
            <a:off x="1219047" y="9170252"/>
            <a:ext cx="8330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Evaluation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67" name="CuadroTexto 66"/>
          <p:cNvSpPr txBox="1"/>
          <p:nvPr/>
        </p:nvSpPr>
        <p:spPr>
          <a:xfrm>
            <a:off x="1941856" y="11590739"/>
            <a:ext cx="1649298" cy="27699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7030A0"/>
                </a:solidFill>
              </a:rPr>
              <a:t>EvaluationClassRegister</a:t>
            </a:r>
            <a:endParaRPr lang="es-ES" sz="1200" dirty="0">
              <a:solidFill>
                <a:srgbClr val="7030A0"/>
              </a:solidFill>
            </a:endParaRPr>
          </a:p>
        </p:txBody>
      </p:sp>
      <p:sp>
        <p:nvSpPr>
          <p:cNvPr id="76" name="CuadroTexto 75"/>
          <p:cNvSpPr txBox="1"/>
          <p:nvPr/>
        </p:nvSpPr>
        <p:spPr>
          <a:xfrm>
            <a:off x="6068527" y="14037831"/>
            <a:ext cx="9795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EvoLauncher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77" name="CuadroTexto 76"/>
          <p:cNvSpPr txBox="1"/>
          <p:nvPr/>
        </p:nvSpPr>
        <p:spPr>
          <a:xfrm>
            <a:off x="3621859" y="12797296"/>
            <a:ext cx="12888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GeneticAlgorithm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78" name="CuadroTexto 77"/>
          <p:cNvSpPr txBox="1"/>
          <p:nvPr/>
        </p:nvSpPr>
        <p:spPr>
          <a:xfrm>
            <a:off x="2321731" y="3427343"/>
            <a:ext cx="1015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ParameterDB</a:t>
            </a:r>
            <a:endParaRPr lang="es-ES" sz="1200" dirty="0">
              <a:solidFill>
                <a:srgbClr val="FF0000"/>
              </a:solidFill>
            </a:endParaRPr>
          </a:p>
        </p:txBody>
      </p:sp>
      <p:cxnSp>
        <p:nvCxnSpPr>
          <p:cNvPr id="91" name="Conector recto de flecha 90"/>
          <p:cNvCxnSpPr/>
          <p:nvPr/>
        </p:nvCxnSpPr>
        <p:spPr>
          <a:xfrm flipV="1">
            <a:off x="6558310" y="13627258"/>
            <a:ext cx="1" cy="4105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CuadroTexto 94"/>
          <p:cNvSpPr txBox="1"/>
          <p:nvPr/>
        </p:nvSpPr>
        <p:spPr>
          <a:xfrm>
            <a:off x="698372" y="12227966"/>
            <a:ext cx="13730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EvolutiveAlgorithm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100" name="CuadroTexto 99"/>
          <p:cNvSpPr txBox="1"/>
          <p:nvPr/>
        </p:nvSpPr>
        <p:spPr>
          <a:xfrm>
            <a:off x="4633099" y="5996376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FF0000"/>
                </a:solidFill>
              </a:rPr>
              <a:t>Fitness</a:t>
            </a:r>
          </a:p>
        </p:txBody>
      </p:sp>
      <p:sp>
        <p:nvSpPr>
          <p:cNvPr id="107" name="CuadroTexto 106"/>
          <p:cNvSpPr txBox="1"/>
          <p:nvPr/>
        </p:nvSpPr>
        <p:spPr>
          <a:xfrm>
            <a:off x="2986503" y="725833"/>
            <a:ext cx="1341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FuzzyFWException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108" name="CuadroTexto 107"/>
          <p:cNvSpPr txBox="1"/>
          <p:nvPr/>
        </p:nvSpPr>
        <p:spPr>
          <a:xfrm>
            <a:off x="6771593" y="4145473"/>
            <a:ext cx="715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TaskFJSP</a:t>
            </a:r>
            <a:endParaRPr lang="es-ES" sz="1200" dirty="0">
              <a:solidFill>
                <a:srgbClr val="00B050"/>
              </a:solidFill>
            </a:endParaRPr>
          </a:p>
        </p:txBody>
      </p:sp>
      <p:sp>
        <p:nvSpPr>
          <p:cNvPr id="109" name="CuadroTexto 108"/>
          <p:cNvSpPr txBox="1"/>
          <p:nvPr/>
        </p:nvSpPr>
        <p:spPr>
          <a:xfrm>
            <a:off x="2483815" y="4145473"/>
            <a:ext cx="7127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Problem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110" name="CuadroTexto 109"/>
          <p:cNvSpPr txBox="1"/>
          <p:nvPr/>
        </p:nvSpPr>
        <p:spPr>
          <a:xfrm>
            <a:off x="6907030" y="5167817"/>
            <a:ext cx="9754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ProblemFJSP</a:t>
            </a:r>
            <a:endParaRPr lang="es-ES" sz="1200" dirty="0">
              <a:solidFill>
                <a:srgbClr val="00B050"/>
              </a:solidFill>
            </a:endParaRPr>
          </a:p>
        </p:txBody>
      </p:sp>
      <p:cxnSp>
        <p:nvCxnSpPr>
          <p:cNvPr id="114" name="Conector recto de flecha 113"/>
          <p:cNvCxnSpPr/>
          <p:nvPr/>
        </p:nvCxnSpPr>
        <p:spPr>
          <a:xfrm flipV="1">
            <a:off x="8278469" y="1538658"/>
            <a:ext cx="2288927" cy="44113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CuadroTexto 120"/>
          <p:cNvSpPr txBox="1"/>
          <p:nvPr/>
        </p:nvSpPr>
        <p:spPr>
          <a:xfrm>
            <a:off x="3221302" y="5167817"/>
            <a:ext cx="700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Solution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184" name="CuadroTexto 183"/>
          <p:cNvSpPr txBox="1"/>
          <p:nvPr/>
        </p:nvSpPr>
        <p:spPr>
          <a:xfrm>
            <a:off x="8219114" y="6886438"/>
            <a:ext cx="763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00B050"/>
                </a:solidFill>
              </a:rPr>
              <a:t>SGS_FJSP</a:t>
            </a:r>
            <a:endParaRPr lang="es-ES" sz="1200" dirty="0">
              <a:solidFill>
                <a:srgbClr val="00B050"/>
              </a:solidFill>
            </a:endParaRPr>
          </a:p>
        </p:txBody>
      </p:sp>
      <p:cxnSp>
        <p:nvCxnSpPr>
          <p:cNvPr id="191" name="Conector recto de flecha 190"/>
          <p:cNvCxnSpPr>
            <a:stCxn id="27" idx="0"/>
            <a:endCxn id="6" idx="2"/>
          </p:cNvCxnSpPr>
          <p:nvPr/>
        </p:nvCxnSpPr>
        <p:spPr>
          <a:xfrm flipH="1" flipV="1">
            <a:off x="1277103" y="7965204"/>
            <a:ext cx="2059" cy="3750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CuadroTexto 219"/>
          <p:cNvSpPr txBox="1"/>
          <p:nvPr/>
        </p:nvSpPr>
        <p:spPr>
          <a:xfrm>
            <a:off x="5074418" y="11590739"/>
            <a:ext cx="758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Selection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221" name="CuadroTexto 220"/>
          <p:cNvSpPr txBox="1"/>
          <p:nvPr/>
        </p:nvSpPr>
        <p:spPr>
          <a:xfrm>
            <a:off x="6410406" y="11590739"/>
            <a:ext cx="766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Mutation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222" name="CuadroTexto 221"/>
          <p:cNvSpPr txBox="1"/>
          <p:nvPr/>
        </p:nvSpPr>
        <p:spPr>
          <a:xfrm>
            <a:off x="3743670" y="11590739"/>
            <a:ext cx="10045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Replacement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223" name="CuadroTexto 222"/>
          <p:cNvSpPr txBox="1"/>
          <p:nvPr/>
        </p:nvSpPr>
        <p:spPr>
          <a:xfrm>
            <a:off x="623014" y="9989492"/>
            <a:ext cx="735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Statistics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225" name="CuadroTexto 224"/>
          <p:cNvSpPr txBox="1"/>
          <p:nvPr/>
        </p:nvSpPr>
        <p:spPr>
          <a:xfrm>
            <a:off x="6050291" y="12185436"/>
            <a:ext cx="1484189" cy="27699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7030A0"/>
                </a:solidFill>
              </a:rPr>
              <a:t>GeneticClassRegister</a:t>
            </a:r>
            <a:endParaRPr lang="es-ES" sz="1200" dirty="0">
              <a:solidFill>
                <a:srgbClr val="7030A0"/>
              </a:solidFill>
            </a:endParaRPr>
          </a:p>
        </p:txBody>
      </p:sp>
      <p:sp>
        <p:nvSpPr>
          <p:cNvPr id="271" name="CuadroTexto 270"/>
          <p:cNvSpPr txBox="1"/>
          <p:nvPr/>
        </p:nvSpPr>
        <p:spPr>
          <a:xfrm>
            <a:off x="4942530" y="725833"/>
            <a:ext cx="9140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RandomMT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506" name="CuadroTexto 505"/>
          <p:cNvSpPr txBox="1"/>
          <p:nvPr/>
        </p:nvSpPr>
        <p:spPr>
          <a:xfrm>
            <a:off x="5045924" y="239807"/>
            <a:ext cx="707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Random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87" name="CuadroTexto 86"/>
          <p:cNvSpPr txBox="1"/>
          <p:nvPr/>
        </p:nvSpPr>
        <p:spPr>
          <a:xfrm>
            <a:off x="9518817" y="12797296"/>
            <a:ext cx="1737976" cy="27699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7030A0"/>
                </a:solidFill>
              </a:rPr>
              <a:t>LocalSearchClassRegister</a:t>
            </a:r>
            <a:endParaRPr lang="es-ES" sz="1200" dirty="0">
              <a:solidFill>
                <a:srgbClr val="7030A0"/>
              </a:solidFill>
            </a:endParaRPr>
          </a:p>
        </p:txBody>
      </p:sp>
      <p:sp>
        <p:nvSpPr>
          <p:cNvPr id="88" name="CuadroTexto 87"/>
          <p:cNvSpPr txBox="1"/>
          <p:nvPr/>
        </p:nvSpPr>
        <p:spPr>
          <a:xfrm>
            <a:off x="7692423" y="12174804"/>
            <a:ext cx="921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LocalSearch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93" name="CuadroTexto 92"/>
          <p:cNvSpPr txBox="1"/>
          <p:nvPr/>
        </p:nvSpPr>
        <p:spPr>
          <a:xfrm>
            <a:off x="10234218" y="11590739"/>
            <a:ext cx="11673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Neighbourhood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113" name="CuadroTexto 112"/>
          <p:cNvSpPr txBox="1"/>
          <p:nvPr/>
        </p:nvSpPr>
        <p:spPr>
          <a:xfrm>
            <a:off x="10763499" y="10811667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Neighbour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120" name="CuadroTexto 119"/>
          <p:cNvSpPr txBox="1"/>
          <p:nvPr/>
        </p:nvSpPr>
        <p:spPr>
          <a:xfrm>
            <a:off x="5875400" y="13350260"/>
            <a:ext cx="13658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MemeticAlgorithm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99" name="CuadroTexto 98"/>
          <p:cNvSpPr txBox="1"/>
          <p:nvPr/>
        </p:nvSpPr>
        <p:spPr>
          <a:xfrm>
            <a:off x="8157405" y="4145473"/>
            <a:ext cx="10571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FJSPException</a:t>
            </a:r>
            <a:endParaRPr lang="es-ES" sz="1200" dirty="0">
              <a:solidFill>
                <a:srgbClr val="00B050"/>
              </a:solidFill>
            </a:endParaRPr>
          </a:p>
        </p:txBody>
      </p:sp>
      <p:cxnSp>
        <p:nvCxnSpPr>
          <p:cNvPr id="116" name="Conector recto de flecha 115"/>
          <p:cNvCxnSpPr/>
          <p:nvPr/>
        </p:nvCxnSpPr>
        <p:spPr>
          <a:xfrm flipV="1">
            <a:off x="8850581" y="1907870"/>
            <a:ext cx="1291218" cy="74534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CuadroTexto 126"/>
          <p:cNvSpPr txBox="1"/>
          <p:nvPr/>
        </p:nvSpPr>
        <p:spPr>
          <a:xfrm>
            <a:off x="4028039" y="6886438"/>
            <a:ext cx="16611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SharedVarsEvolutionary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224" name="CuadroTexto 223"/>
          <p:cNvSpPr txBox="1"/>
          <p:nvPr/>
        </p:nvSpPr>
        <p:spPr>
          <a:xfrm>
            <a:off x="7846871" y="7688205"/>
            <a:ext cx="13979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SGS_FJSP_Insertion</a:t>
            </a:r>
            <a:endParaRPr lang="es-ES" sz="1200" dirty="0">
              <a:solidFill>
                <a:srgbClr val="00B050"/>
              </a:solidFill>
            </a:endParaRPr>
          </a:p>
        </p:txBody>
      </p:sp>
      <p:sp>
        <p:nvSpPr>
          <p:cNvPr id="227" name="CuadroTexto 226"/>
          <p:cNvSpPr txBox="1"/>
          <p:nvPr/>
        </p:nvSpPr>
        <p:spPr>
          <a:xfrm>
            <a:off x="5064842" y="7688205"/>
            <a:ext cx="13274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SGS_FJSP_Append</a:t>
            </a:r>
            <a:endParaRPr lang="es-ES" sz="1200" dirty="0">
              <a:solidFill>
                <a:srgbClr val="00B050"/>
              </a:solidFill>
            </a:endParaRPr>
          </a:p>
        </p:txBody>
      </p:sp>
      <p:cxnSp>
        <p:nvCxnSpPr>
          <p:cNvPr id="242" name="Conector recto de flecha 241"/>
          <p:cNvCxnSpPr/>
          <p:nvPr/>
        </p:nvCxnSpPr>
        <p:spPr>
          <a:xfrm flipH="1">
            <a:off x="8798896" y="2815391"/>
            <a:ext cx="1543679" cy="591903"/>
          </a:xfrm>
          <a:prstGeom prst="straightConnector1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01" name="CuadroTexto 300"/>
          <p:cNvSpPr txBox="1"/>
          <p:nvPr/>
        </p:nvSpPr>
        <p:spPr>
          <a:xfrm>
            <a:off x="2627040" y="8340241"/>
            <a:ext cx="9590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EncoderFJSP</a:t>
            </a:r>
            <a:endParaRPr lang="es-ES" sz="1200" dirty="0">
              <a:solidFill>
                <a:srgbClr val="00B050"/>
              </a:solidFill>
            </a:endParaRPr>
          </a:p>
        </p:txBody>
      </p:sp>
      <p:sp>
        <p:nvSpPr>
          <p:cNvPr id="322" name="CuadroTexto 321"/>
          <p:cNvSpPr txBox="1"/>
          <p:nvPr/>
        </p:nvSpPr>
        <p:spPr>
          <a:xfrm>
            <a:off x="2491475" y="9170252"/>
            <a:ext cx="9750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DecoderFJSP</a:t>
            </a:r>
            <a:endParaRPr lang="es-ES" sz="1200" dirty="0">
              <a:solidFill>
                <a:srgbClr val="00B050"/>
              </a:solidFill>
            </a:endParaRPr>
          </a:p>
        </p:txBody>
      </p:sp>
      <p:sp>
        <p:nvSpPr>
          <p:cNvPr id="370" name="CuadroTexto 369"/>
          <p:cNvSpPr txBox="1"/>
          <p:nvPr/>
        </p:nvSpPr>
        <p:spPr>
          <a:xfrm>
            <a:off x="1685551" y="9992064"/>
            <a:ext cx="10957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EvaluationFJSP</a:t>
            </a:r>
            <a:endParaRPr lang="es-ES" sz="1200" dirty="0">
              <a:solidFill>
                <a:srgbClr val="00B050"/>
              </a:solidFill>
            </a:endParaRPr>
          </a:p>
        </p:txBody>
      </p:sp>
      <p:sp>
        <p:nvSpPr>
          <p:cNvPr id="576" name="CuadroTexto 575"/>
          <p:cNvSpPr txBox="1"/>
          <p:nvPr/>
        </p:nvSpPr>
        <p:spPr>
          <a:xfrm>
            <a:off x="7230937" y="11590739"/>
            <a:ext cx="10614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CrossoverFJSP</a:t>
            </a:r>
            <a:endParaRPr lang="es-ES" sz="1200" dirty="0">
              <a:solidFill>
                <a:srgbClr val="00B050"/>
              </a:solidFill>
            </a:endParaRPr>
          </a:p>
        </p:txBody>
      </p:sp>
      <p:sp>
        <p:nvSpPr>
          <p:cNvPr id="588" name="CuadroTexto 587"/>
          <p:cNvSpPr txBox="1"/>
          <p:nvPr/>
        </p:nvSpPr>
        <p:spPr>
          <a:xfrm>
            <a:off x="8301828" y="11590739"/>
            <a:ext cx="977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CreationFJSP</a:t>
            </a:r>
            <a:endParaRPr lang="es-ES" sz="1200" dirty="0">
              <a:solidFill>
                <a:srgbClr val="00B050"/>
              </a:solidFill>
            </a:endParaRPr>
          </a:p>
        </p:txBody>
      </p:sp>
      <p:sp>
        <p:nvSpPr>
          <p:cNvPr id="616" name="CuadroTexto 615"/>
          <p:cNvSpPr txBox="1"/>
          <p:nvPr/>
        </p:nvSpPr>
        <p:spPr>
          <a:xfrm>
            <a:off x="223637" y="10811667"/>
            <a:ext cx="9986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StatisticsFJSP</a:t>
            </a:r>
            <a:endParaRPr lang="es-ES" sz="1200" dirty="0">
              <a:solidFill>
                <a:srgbClr val="00B050"/>
              </a:solidFill>
            </a:endParaRPr>
          </a:p>
        </p:txBody>
      </p:sp>
      <p:sp>
        <p:nvSpPr>
          <p:cNvPr id="623" name="CuadroTexto 622"/>
          <p:cNvSpPr txBox="1"/>
          <p:nvPr/>
        </p:nvSpPr>
        <p:spPr>
          <a:xfrm>
            <a:off x="195296" y="11590739"/>
            <a:ext cx="1552156" cy="27699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7030A0"/>
                </a:solidFill>
              </a:rPr>
              <a:t>StatisticsClassRegister</a:t>
            </a:r>
            <a:endParaRPr lang="es-ES" sz="1200" dirty="0">
              <a:solidFill>
                <a:srgbClr val="7030A0"/>
              </a:solidFill>
            </a:endParaRPr>
          </a:p>
        </p:txBody>
      </p:sp>
      <p:sp>
        <p:nvSpPr>
          <p:cNvPr id="642" name="CuadroTexto 641"/>
          <p:cNvSpPr txBox="1"/>
          <p:nvPr/>
        </p:nvSpPr>
        <p:spPr>
          <a:xfrm>
            <a:off x="3790898" y="12174804"/>
            <a:ext cx="9012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DataPrinter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646" name="CuadroTexto 645"/>
          <p:cNvSpPr txBox="1"/>
          <p:nvPr/>
        </p:nvSpPr>
        <p:spPr>
          <a:xfrm>
            <a:off x="11597488" y="11590739"/>
            <a:ext cx="11062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NeighbourFJSP</a:t>
            </a:r>
            <a:endParaRPr lang="es-ES" sz="1200" dirty="0">
              <a:solidFill>
                <a:srgbClr val="00B050"/>
              </a:solidFill>
            </a:endParaRPr>
          </a:p>
        </p:txBody>
      </p:sp>
      <p:sp>
        <p:nvSpPr>
          <p:cNvPr id="662" name="CuadroTexto 661"/>
          <p:cNvSpPr txBox="1"/>
          <p:nvPr/>
        </p:nvSpPr>
        <p:spPr>
          <a:xfrm>
            <a:off x="11745436" y="12174804"/>
            <a:ext cx="18517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NeighbourhoodFJSP_Cmax</a:t>
            </a:r>
            <a:endParaRPr lang="es-ES" sz="1200" dirty="0">
              <a:solidFill>
                <a:srgbClr val="00B050"/>
              </a:solidFill>
            </a:endParaRPr>
          </a:p>
        </p:txBody>
      </p:sp>
      <p:cxnSp>
        <p:nvCxnSpPr>
          <p:cNvPr id="140" name="Conector recto de flecha 139"/>
          <p:cNvCxnSpPr>
            <a:stCxn id="6" idx="0"/>
            <a:endCxn id="50" idx="2"/>
          </p:cNvCxnSpPr>
          <p:nvPr/>
        </p:nvCxnSpPr>
        <p:spPr>
          <a:xfrm flipH="1" flipV="1">
            <a:off x="979706" y="7163436"/>
            <a:ext cx="297396" cy="5247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ector recto de flecha 142"/>
          <p:cNvCxnSpPr>
            <a:stCxn id="6" idx="0"/>
            <a:endCxn id="127" idx="2"/>
          </p:cNvCxnSpPr>
          <p:nvPr/>
        </p:nvCxnSpPr>
        <p:spPr>
          <a:xfrm flipV="1">
            <a:off x="1277103" y="7163436"/>
            <a:ext cx="3581517" cy="5247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ector recto de flecha 145"/>
          <p:cNvCxnSpPr>
            <a:stCxn id="60" idx="0"/>
            <a:endCxn id="4" idx="2"/>
          </p:cNvCxnSpPr>
          <p:nvPr/>
        </p:nvCxnSpPr>
        <p:spPr>
          <a:xfrm flipV="1">
            <a:off x="1635572" y="8617239"/>
            <a:ext cx="7950129" cy="5530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ector recto de flecha 148"/>
          <p:cNvCxnSpPr>
            <a:stCxn id="60" idx="0"/>
            <a:endCxn id="127" idx="2"/>
          </p:cNvCxnSpPr>
          <p:nvPr/>
        </p:nvCxnSpPr>
        <p:spPr>
          <a:xfrm flipV="1">
            <a:off x="1635571" y="7163437"/>
            <a:ext cx="3223048" cy="20068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Conector recto de flecha 151"/>
          <p:cNvCxnSpPr>
            <a:stCxn id="50" idx="0"/>
            <a:endCxn id="48" idx="2"/>
          </p:cNvCxnSpPr>
          <p:nvPr/>
        </p:nvCxnSpPr>
        <p:spPr>
          <a:xfrm flipH="1" flipV="1">
            <a:off x="966640" y="6273375"/>
            <a:ext cx="13067" cy="6130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ector recto de flecha 154"/>
          <p:cNvCxnSpPr>
            <a:stCxn id="50" idx="0"/>
            <a:endCxn id="100" idx="2"/>
          </p:cNvCxnSpPr>
          <p:nvPr/>
        </p:nvCxnSpPr>
        <p:spPr>
          <a:xfrm flipV="1">
            <a:off x="979706" y="6273375"/>
            <a:ext cx="3963734" cy="6130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ector recto de flecha 157"/>
          <p:cNvCxnSpPr>
            <a:stCxn id="50" idx="0"/>
            <a:endCxn id="121" idx="2"/>
          </p:cNvCxnSpPr>
          <p:nvPr/>
        </p:nvCxnSpPr>
        <p:spPr>
          <a:xfrm flipV="1">
            <a:off x="979706" y="5444815"/>
            <a:ext cx="2592012" cy="14416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ector recto de flecha 160"/>
          <p:cNvCxnSpPr>
            <a:stCxn id="4" idx="0"/>
            <a:endCxn id="50" idx="2"/>
          </p:cNvCxnSpPr>
          <p:nvPr/>
        </p:nvCxnSpPr>
        <p:spPr>
          <a:xfrm flipH="1" flipV="1">
            <a:off x="979706" y="7163436"/>
            <a:ext cx="8605994" cy="11768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ector recto de flecha 163"/>
          <p:cNvCxnSpPr>
            <a:stCxn id="7" idx="0"/>
            <a:endCxn id="4" idx="2"/>
          </p:cNvCxnSpPr>
          <p:nvPr/>
        </p:nvCxnSpPr>
        <p:spPr>
          <a:xfrm flipV="1">
            <a:off x="8885232" y="8617240"/>
            <a:ext cx="700469" cy="21944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ector recto de flecha 166"/>
          <p:cNvCxnSpPr>
            <a:stCxn id="7" idx="0"/>
            <a:endCxn id="127" idx="2"/>
          </p:cNvCxnSpPr>
          <p:nvPr/>
        </p:nvCxnSpPr>
        <p:spPr>
          <a:xfrm flipH="1" flipV="1">
            <a:off x="4858619" y="7163436"/>
            <a:ext cx="4026612" cy="36482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Conector recto de flecha 170"/>
          <p:cNvCxnSpPr>
            <a:stCxn id="17" idx="0"/>
            <a:endCxn id="127" idx="2"/>
          </p:cNvCxnSpPr>
          <p:nvPr/>
        </p:nvCxnSpPr>
        <p:spPr>
          <a:xfrm flipH="1" flipV="1">
            <a:off x="4858619" y="7163436"/>
            <a:ext cx="3050754" cy="36482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Conector recto de flecha 173"/>
          <p:cNvCxnSpPr>
            <a:stCxn id="17" idx="0"/>
            <a:endCxn id="4" idx="2"/>
          </p:cNvCxnSpPr>
          <p:nvPr/>
        </p:nvCxnSpPr>
        <p:spPr>
          <a:xfrm flipV="1">
            <a:off x="7909374" y="8617240"/>
            <a:ext cx="1676327" cy="21944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ector recto de flecha 176"/>
          <p:cNvCxnSpPr>
            <a:stCxn id="221" idx="0"/>
            <a:endCxn id="4" idx="2"/>
          </p:cNvCxnSpPr>
          <p:nvPr/>
        </p:nvCxnSpPr>
        <p:spPr>
          <a:xfrm flipV="1">
            <a:off x="6793652" y="8617240"/>
            <a:ext cx="2792048" cy="29734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Conector recto de flecha 179"/>
          <p:cNvCxnSpPr>
            <a:stCxn id="222" idx="0"/>
            <a:endCxn id="4" idx="2"/>
          </p:cNvCxnSpPr>
          <p:nvPr/>
        </p:nvCxnSpPr>
        <p:spPr>
          <a:xfrm flipV="1">
            <a:off x="4245924" y="8617240"/>
            <a:ext cx="5339777" cy="29734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ector recto de flecha 182"/>
          <p:cNvCxnSpPr>
            <a:stCxn id="77" idx="0"/>
            <a:endCxn id="95" idx="2"/>
          </p:cNvCxnSpPr>
          <p:nvPr/>
        </p:nvCxnSpPr>
        <p:spPr>
          <a:xfrm flipH="1" flipV="1">
            <a:off x="1384874" y="12504965"/>
            <a:ext cx="2881424" cy="2923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Conector recto de flecha 188"/>
          <p:cNvCxnSpPr>
            <a:stCxn id="77" idx="0"/>
            <a:endCxn id="642" idx="2"/>
          </p:cNvCxnSpPr>
          <p:nvPr/>
        </p:nvCxnSpPr>
        <p:spPr>
          <a:xfrm flipH="1" flipV="1">
            <a:off x="4241534" y="12451803"/>
            <a:ext cx="24764" cy="3454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ector recto de flecha 192"/>
          <p:cNvCxnSpPr>
            <a:stCxn id="77" idx="0"/>
            <a:endCxn id="225" idx="2"/>
          </p:cNvCxnSpPr>
          <p:nvPr/>
        </p:nvCxnSpPr>
        <p:spPr>
          <a:xfrm flipV="1">
            <a:off x="4266299" y="12462435"/>
            <a:ext cx="2526087" cy="33486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ector recto de flecha 195"/>
          <p:cNvCxnSpPr>
            <a:stCxn id="120" idx="0"/>
            <a:endCxn id="77" idx="2"/>
          </p:cNvCxnSpPr>
          <p:nvPr/>
        </p:nvCxnSpPr>
        <p:spPr>
          <a:xfrm flipH="1" flipV="1">
            <a:off x="4266299" y="13074295"/>
            <a:ext cx="2292013" cy="2759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Conector recto de flecha 199"/>
          <p:cNvCxnSpPr>
            <a:stCxn id="120" idx="0"/>
            <a:endCxn id="87" idx="2"/>
          </p:cNvCxnSpPr>
          <p:nvPr/>
        </p:nvCxnSpPr>
        <p:spPr>
          <a:xfrm flipV="1">
            <a:off x="6558311" y="13074295"/>
            <a:ext cx="3829494" cy="27596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ector recto de flecha 202"/>
          <p:cNvCxnSpPr>
            <a:stCxn id="642" idx="0"/>
            <a:endCxn id="4" idx="2"/>
          </p:cNvCxnSpPr>
          <p:nvPr/>
        </p:nvCxnSpPr>
        <p:spPr>
          <a:xfrm flipV="1">
            <a:off x="4241534" y="8617239"/>
            <a:ext cx="5344166" cy="35575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Conector recto de flecha 205"/>
          <p:cNvCxnSpPr>
            <a:stCxn id="223" idx="0"/>
            <a:endCxn id="60" idx="2"/>
          </p:cNvCxnSpPr>
          <p:nvPr/>
        </p:nvCxnSpPr>
        <p:spPr>
          <a:xfrm flipV="1">
            <a:off x="990967" y="9447251"/>
            <a:ext cx="644604" cy="5422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ector recto de flecha 208"/>
          <p:cNvCxnSpPr>
            <a:stCxn id="220" idx="0"/>
            <a:endCxn id="4" idx="2"/>
          </p:cNvCxnSpPr>
          <p:nvPr/>
        </p:nvCxnSpPr>
        <p:spPr>
          <a:xfrm flipV="1">
            <a:off x="5453688" y="8617240"/>
            <a:ext cx="4132012" cy="29734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ector recto de flecha 211"/>
          <p:cNvCxnSpPr>
            <a:stCxn id="95" idx="0"/>
            <a:endCxn id="67" idx="2"/>
          </p:cNvCxnSpPr>
          <p:nvPr/>
        </p:nvCxnSpPr>
        <p:spPr>
          <a:xfrm flipV="1">
            <a:off x="1384875" y="11867737"/>
            <a:ext cx="1381631" cy="36022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Conector recto de flecha 214"/>
          <p:cNvCxnSpPr>
            <a:stCxn id="95" idx="0"/>
            <a:endCxn id="623" idx="2"/>
          </p:cNvCxnSpPr>
          <p:nvPr/>
        </p:nvCxnSpPr>
        <p:spPr>
          <a:xfrm flipH="1" flipV="1">
            <a:off x="971374" y="11867737"/>
            <a:ext cx="413500" cy="360228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Conector recto de flecha 217"/>
          <p:cNvCxnSpPr>
            <a:stCxn id="127" idx="0"/>
            <a:endCxn id="48" idx="2"/>
          </p:cNvCxnSpPr>
          <p:nvPr/>
        </p:nvCxnSpPr>
        <p:spPr>
          <a:xfrm flipH="1" flipV="1">
            <a:off x="966639" y="6273375"/>
            <a:ext cx="3891980" cy="6130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onector recto de flecha 228"/>
          <p:cNvCxnSpPr>
            <a:stCxn id="88" idx="0"/>
            <a:endCxn id="93" idx="2"/>
          </p:cNvCxnSpPr>
          <p:nvPr/>
        </p:nvCxnSpPr>
        <p:spPr>
          <a:xfrm flipV="1">
            <a:off x="8153287" y="11867737"/>
            <a:ext cx="2664585" cy="3070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CuadroTexto 231"/>
          <p:cNvSpPr txBox="1"/>
          <p:nvPr/>
        </p:nvSpPr>
        <p:spPr>
          <a:xfrm>
            <a:off x="9375965" y="11590739"/>
            <a:ext cx="6918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TabuList</a:t>
            </a:r>
            <a:endParaRPr lang="es-ES" sz="1200" dirty="0">
              <a:solidFill>
                <a:srgbClr val="FF0000"/>
              </a:solidFill>
            </a:endParaRPr>
          </a:p>
        </p:txBody>
      </p:sp>
      <p:cxnSp>
        <p:nvCxnSpPr>
          <p:cNvPr id="235" name="Conector recto de flecha 234"/>
          <p:cNvCxnSpPr>
            <a:stCxn id="88" idx="0"/>
            <a:endCxn id="232" idx="2"/>
          </p:cNvCxnSpPr>
          <p:nvPr/>
        </p:nvCxnSpPr>
        <p:spPr>
          <a:xfrm flipV="1">
            <a:off x="8153287" y="11867737"/>
            <a:ext cx="1568607" cy="3070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Conector recto de flecha 235"/>
          <p:cNvCxnSpPr>
            <a:stCxn id="113" idx="0"/>
            <a:endCxn id="100" idx="2"/>
          </p:cNvCxnSpPr>
          <p:nvPr/>
        </p:nvCxnSpPr>
        <p:spPr>
          <a:xfrm flipH="1" flipV="1">
            <a:off x="4943441" y="6273374"/>
            <a:ext cx="6241809" cy="45382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Conector recto de flecha 237"/>
          <p:cNvCxnSpPr>
            <a:stCxn id="113" idx="0"/>
            <a:endCxn id="121" idx="2"/>
          </p:cNvCxnSpPr>
          <p:nvPr/>
        </p:nvCxnSpPr>
        <p:spPr>
          <a:xfrm flipH="1" flipV="1">
            <a:off x="3571719" y="5444816"/>
            <a:ext cx="7613531" cy="53668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Conector recto de flecha 238"/>
          <p:cNvCxnSpPr>
            <a:stCxn id="93" idx="0"/>
            <a:endCxn id="113" idx="2"/>
          </p:cNvCxnSpPr>
          <p:nvPr/>
        </p:nvCxnSpPr>
        <p:spPr>
          <a:xfrm flipV="1">
            <a:off x="10817871" y="11088666"/>
            <a:ext cx="367378" cy="5020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onector recto de flecha 240"/>
          <p:cNvCxnSpPr>
            <a:stCxn id="93" idx="0"/>
            <a:endCxn id="48" idx="2"/>
          </p:cNvCxnSpPr>
          <p:nvPr/>
        </p:nvCxnSpPr>
        <p:spPr>
          <a:xfrm flipH="1" flipV="1">
            <a:off x="966639" y="6273374"/>
            <a:ext cx="9851232" cy="53173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Conector recto de flecha 243"/>
          <p:cNvCxnSpPr>
            <a:stCxn id="232" idx="0"/>
            <a:endCxn id="113" idx="2"/>
          </p:cNvCxnSpPr>
          <p:nvPr/>
        </p:nvCxnSpPr>
        <p:spPr>
          <a:xfrm flipV="1">
            <a:off x="9721893" y="11088666"/>
            <a:ext cx="1463356" cy="5020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onector recto de flecha 244"/>
          <p:cNvCxnSpPr>
            <a:stCxn id="232" idx="0"/>
            <a:endCxn id="78" idx="2"/>
          </p:cNvCxnSpPr>
          <p:nvPr/>
        </p:nvCxnSpPr>
        <p:spPr>
          <a:xfrm flipH="1" flipV="1">
            <a:off x="2829563" y="3704342"/>
            <a:ext cx="6892331" cy="78863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Conector recto de flecha 248"/>
          <p:cNvCxnSpPr>
            <a:stCxn id="48" idx="0"/>
            <a:endCxn id="109" idx="2"/>
          </p:cNvCxnSpPr>
          <p:nvPr/>
        </p:nvCxnSpPr>
        <p:spPr>
          <a:xfrm flipV="1">
            <a:off x="966640" y="4422471"/>
            <a:ext cx="1873555" cy="15739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onector recto de flecha 251"/>
          <p:cNvCxnSpPr>
            <a:stCxn id="37" idx="0"/>
            <a:endCxn id="36" idx="2"/>
          </p:cNvCxnSpPr>
          <p:nvPr/>
        </p:nvCxnSpPr>
        <p:spPr>
          <a:xfrm flipH="1" flipV="1">
            <a:off x="4525446" y="1769228"/>
            <a:ext cx="2157497" cy="50365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ector recto de flecha 254"/>
          <p:cNvCxnSpPr>
            <a:stCxn id="35" idx="0"/>
            <a:endCxn id="37" idx="2"/>
          </p:cNvCxnSpPr>
          <p:nvPr/>
        </p:nvCxnSpPr>
        <p:spPr>
          <a:xfrm flipV="1">
            <a:off x="5139754" y="2549882"/>
            <a:ext cx="1543188" cy="3081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Conector recto de flecha 257"/>
          <p:cNvCxnSpPr>
            <a:stCxn id="100" idx="0"/>
            <a:endCxn id="37" idx="2"/>
          </p:cNvCxnSpPr>
          <p:nvPr/>
        </p:nvCxnSpPr>
        <p:spPr>
          <a:xfrm flipV="1">
            <a:off x="4943440" y="2549881"/>
            <a:ext cx="1739502" cy="34464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Conector recto de flecha 261"/>
          <p:cNvCxnSpPr>
            <a:stCxn id="109" idx="0"/>
            <a:endCxn id="78" idx="2"/>
          </p:cNvCxnSpPr>
          <p:nvPr/>
        </p:nvCxnSpPr>
        <p:spPr>
          <a:xfrm flipH="1" flipV="1">
            <a:off x="2829562" y="3704342"/>
            <a:ext cx="10632" cy="4411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Conector recto de flecha 264"/>
          <p:cNvCxnSpPr>
            <a:stCxn id="109" idx="0"/>
            <a:endCxn id="44" idx="2"/>
          </p:cNvCxnSpPr>
          <p:nvPr/>
        </p:nvCxnSpPr>
        <p:spPr>
          <a:xfrm flipV="1">
            <a:off x="2840194" y="3704342"/>
            <a:ext cx="2288926" cy="44113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Conector recto de flecha 266"/>
          <p:cNvCxnSpPr>
            <a:stCxn id="121" idx="0"/>
            <a:endCxn id="36" idx="2"/>
          </p:cNvCxnSpPr>
          <p:nvPr/>
        </p:nvCxnSpPr>
        <p:spPr>
          <a:xfrm flipV="1">
            <a:off x="3571719" y="1769228"/>
            <a:ext cx="953727" cy="33985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Conector recto de flecha 269"/>
          <p:cNvCxnSpPr>
            <a:stCxn id="67" idx="0"/>
            <a:endCxn id="370" idx="2"/>
          </p:cNvCxnSpPr>
          <p:nvPr/>
        </p:nvCxnSpPr>
        <p:spPr>
          <a:xfrm flipH="1" flipV="1">
            <a:off x="2233425" y="10269062"/>
            <a:ext cx="533080" cy="132167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CuadroTexto 272"/>
          <p:cNvSpPr txBox="1"/>
          <p:nvPr/>
        </p:nvSpPr>
        <p:spPr>
          <a:xfrm>
            <a:off x="2992982" y="10811667"/>
            <a:ext cx="11536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70C0"/>
                </a:solidFill>
              </a:rPr>
              <a:t>EvaluationFVRP</a:t>
            </a:r>
            <a:endParaRPr lang="es-ES" sz="1200" dirty="0">
              <a:solidFill>
                <a:srgbClr val="0070C0"/>
              </a:solidFill>
            </a:endParaRPr>
          </a:p>
        </p:txBody>
      </p:sp>
      <p:cxnSp>
        <p:nvCxnSpPr>
          <p:cNvPr id="274" name="Conector recto de flecha 273"/>
          <p:cNvCxnSpPr>
            <a:stCxn id="67" idx="0"/>
            <a:endCxn id="273" idx="2"/>
          </p:cNvCxnSpPr>
          <p:nvPr/>
        </p:nvCxnSpPr>
        <p:spPr>
          <a:xfrm flipV="1">
            <a:off x="2766506" y="11088666"/>
            <a:ext cx="803301" cy="50207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Conector recto de flecha 276"/>
          <p:cNvCxnSpPr>
            <a:stCxn id="225" idx="0"/>
            <a:endCxn id="588" idx="2"/>
          </p:cNvCxnSpPr>
          <p:nvPr/>
        </p:nvCxnSpPr>
        <p:spPr>
          <a:xfrm flipV="1">
            <a:off x="6792386" y="11867737"/>
            <a:ext cx="1998295" cy="31769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Conector recto de flecha 279"/>
          <p:cNvCxnSpPr>
            <a:stCxn id="225" idx="0"/>
            <a:endCxn id="221" idx="2"/>
          </p:cNvCxnSpPr>
          <p:nvPr/>
        </p:nvCxnSpPr>
        <p:spPr>
          <a:xfrm flipV="1">
            <a:off x="6792386" y="11867737"/>
            <a:ext cx="1267" cy="3176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Conector recto de flecha 282"/>
          <p:cNvCxnSpPr>
            <a:stCxn id="225" idx="0"/>
            <a:endCxn id="220" idx="2"/>
          </p:cNvCxnSpPr>
          <p:nvPr/>
        </p:nvCxnSpPr>
        <p:spPr>
          <a:xfrm flipH="1" flipV="1">
            <a:off x="5453689" y="11867737"/>
            <a:ext cx="1338697" cy="3176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Conector recto de flecha 285"/>
          <p:cNvCxnSpPr>
            <a:stCxn id="225" idx="0"/>
            <a:endCxn id="222" idx="2"/>
          </p:cNvCxnSpPr>
          <p:nvPr/>
        </p:nvCxnSpPr>
        <p:spPr>
          <a:xfrm flipH="1" flipV="1">
            <a:off x="4245923" y="11867737"/>
            <a:ext cx="2546462" cy="3176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Conector recto de flecha 288"/>
          <p:cNvCxnSpPr>
            <a:stCxn id="225" idx="0"/>
            <a:endCxn id="576" idx="2"/>
          </p:cNvCxnSpPr>
          <p:nvPr/>
        </p:nvCxnSpPr>
        <p:spPr>
          <a:xfrm flipV="1">
            <a:off x="6792385" y="11867737"/>
            <a:ext cx="969274" cy="31769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Conector recto de flecha 291"/>
          <p:cNvCxnSpPr>
            <a:stCxn id="225" idx="0"/>
            <a:endCxn id="27" idx="2"/>
          </p:cNvCxnSpPr>
          <p:nvPr/>
        </p:nvCxnSpPr>
        <p:spPr>
          <a:xfrm flipH="1" flipV="1">
            <a:off x="1279161" y="8617239"/>
            <a:ext cx="5513224" cy="356819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CuadroTexto 294"/>
          <p:cNvSpPr txBox="1"/>
          <p:nvPr/>
        </p:nvSpPr>
        <p:spPr>
          <a:xfrm>
            <a:off x="5611855" y="11591715"/>
            <a:ext cx="11099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70C0"/>
                </a:solidFill>
              </a:rPr>
              <a:t>Decoder_FVRP</a:t>
            </a:r>
            <a:endParaRPr lang="es-ES" sz="1200" dirty="0">
              <a:solidFill>
                <a:srgbClr val="0070C0"/>
              </a:solidFill>
            </a:endParaRPr>
          </a:p>
        </p:txBody>
      </p:sp>
      <p:cxnSp>
        <p:nvCxnSpPr>
          <p:cNvPr id="296" name="Conector recto de flecha 295"/>
          <p:cNvCxnSpPr>
            <a:stCxn id="225" idx="0"/>
            <a:endCxn id="295" idx="2"/>
          </p:cNvCxnSpPr>
          <p:nvPr/>
        </p:nvCxnSpPr>
        <p:spPr>
          <a:xfrm flipH="1" flipV="1">
            <a:off x="6166815" y="11868713"/>
            <a:ext cx="625571" cy="31672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Conector recto de flecha 299"/>
          <p:cNvCxnSpPr>
            <a:stCxn id="87" idx="0"/>
            <a:endCxn id="88" idx="2"/>
          </p:cNvCxnSpPr>
          <p:nvPr/>
        </p:nvCxnSpPr>
        <p:spPr>
          <a:xfrm flipH="1" flipV="1">
            <a:off x="8153287" y="12451803"/>
            <a:ext cx="2234519" cy="3454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CuadroTexto 302"/>
          <p:cNvSpPr txBox="1"/>
          <p:nvPr/>
        </p:nvSpPr>
        <p:spPr>
          <a:xfrm>
            <a:off x="10177326" y="12182825"/>
            <a:ext cx="16351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NeighbourhoodFJSP_AI</a:t>
            </a:r>
            <a:endParaRPr lang="es-ES" sz="1200" dirty="0">
              <a:solidFill>
                <a:srgbClr val="00B050"/>
              </a:solidFill>
            </a:endParaRPr>
          </a:p>
        </p:txBody>
      </p:sp>
      <p:sp>
        <p:nvSpPr>
          <p:cNvPr id="304" name="CuadroTexto 303"/>
          <p:cNvSpPr txBox="1"/>
          <p:nvPr/>
        </p:nvSpPr>
        <p:spPr>
          <a:xfrm>
            <a:off x="8549047" y="12166783"/>
            <a:ext cx="17459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NeighbourhoodFJSP_ESD</a:t>
            </a:r>
            <a:endParaRPr lang="es-ES" sz="1200" dirty="0">
              <a:solidFill>
                <a:srgbClr val="00B050"/>
              </a:solidFill>
            </a:endParaRPr>
          </a:p>
        </p:txBody>
      </p:sp>
      <p:cxnSp>
        <p:nvCxnSpPr>
          <p:cNvPr id="305" name="Conector recto de flecha 304"/>
          <p:cNvCxnSpPr>
            <a:stCxn id="87" idx="0"/>
            <a:endCxn id="304" idx="2"/>
          </p:cNvCxnSpPr>
          <p:nvPr/>
        </p:nvCxnSpPr>
        <p:spPr>
          <a:xfrm flipH="1" flipV="1">
            <a:off x="9422011" y="12443782"/>
            <a:ext cx="965794" cy="35351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Conector recto de flecha 307"/>
          <p:cNvCxnSpPr>
            <a:stCxn id="87" idx="0"/>
            <a:endCxn id="303" idx="2"/>
          </p:cNvCxnSpPr>
          <p:nvPr/>
        </p:nvCxnSpPr>
        <p:spPr>
          <a:xfrm flipV="1">
            <a:off x="10387805" y="12459824"/>
            <a:ext cx="607117" cy="33747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Conector recto de flecha 310"/>
          <p:cNvCxnSpPr>
            <a:stCxn id="87" idx="0"/>
            <a:endCxn id="662" idx="2"/>
          </p:cNvCxnSpPr>
          <p:nvPr/>
        </p:nvCxnSpPr>
        <p:spPr>
          <a:xfrm flipV="1">
            <a:off x="10387805" y="12451803"/>
            <a:ext cx="2283526" cy="34549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Conector recto de flecha 313"/>
          <p:cNvCxnSpPr>
            <a:stCxn id="623" idx="0"/>
            <a:endCxn id="616" idx="2"/>
          </p:cNvCxnSpPr>
          <p:nvPr/>
        </p:nvCxnSpPr>
        <p:spPr>
          <a:xfrm flipH="1" flipV="1">
            <a:off x="722940" y="11088666"/>
            <a:ext cx="248434" cy="50207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CuadroTexto 316"/>
          <p:cNvSpPr txBox="1"/>
          <p:nvPr/>
        </p:nvSpPr>
        <p:spPr>
          <a:xfrm>
            <a:off x="1292517" y="10811667"/>
            <a:ext cx="10565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70C0"/>
                </a:solidFill>
              </a:rPr>
              <a:t>StatisticsFVRP</a:t>
            </a:r>
            <a:endParaRPr lang="es-ES" sz="1200" dirty="0">
              <a:solidFill>
                <a:srgbClr val="0070C0"/>
              </a:solidFill>
            </a:endParaRPr>
          </a:p>
        </p:txBody>
      </p:sp>
      <p:cxnSp>
        <p:nvCxnSpPr>
          <p:cNvPr id="318" name="Conector recto de flecha 317"/>
          <p:cNvCxnSpPr>
            <a:stCxn id="623" idx="0"/>
            <a:endCxn id="317" idx="2"/>
          </p:cNvCxnSpPr>
          <p:nvPr/>
        </p:nvCxnSpPr>
        <p:spPr>
          <a:xfrm flipV="1">
            <a:off x="971375" y="11088666"/>
            <a:ext cx="849397" cy="50207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Conector recto de flecha 320"/>
          <p:cNvCxnSpPr>
            <a:stCxn id="44" idx="0"/>
            <a:endCxn id="35" idx="2"/>
          </p:cNvCxnSpPr>
          <p:nvPr/>
        </p:nvCxnSpPr>
        <p:spPr>
          <a:xfrm flipV="1">
            <a:off x="5129120" y="3135068"/>
            <a:ext cx="10634" cy="2922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Conector recto de flecha 323"/>
          <p:cNvCxnSpPr>
            <a:stCxn id="36" idx="0"/>
            <a:endCxn id="107" idx="2"/>
          </p:cNvCxnSpPr>
          <p:nvPr/>
        </p:nvCxnSpPr>
        <p:spPr>
          <a:xfrm flipH="1" flipV="1">
            <a:off x="3657167" y="1002832"/>
            <a:ext cx="868278" cy="4893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Conector recto de flecha 326"/>
          <p:cNvCxnSpPr>
            <a:stCxn id="36" idx="0"/>
            <a:endCxn id="271" idx="2"/>
          </p:cNvCxnSpPr>
          <p:nvPr/>
        </p:nvCxnSpPr>
        <p:spPr>
          <a:xfrm flipV="1">
            <a:off x="4525446" y="1002832"/>
            <a:ext cx="874101" cy="4893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Conector recto de flecha 329"/>
          <p:cNvCxnSpPr>
            <a:stCxn id="78" idx="0"/>
            <a:endCxn id="36" idx="2"/>
          </p:cNvCxnSpPr>
          <p:nvPr/>
        </p:nvCxnSpPr>
        <p:spPr>
          <a:xfrm flipV="1">
            <a:off x="2829563" y="1769228"/>
            <a:ext cx="1695883" cy="16581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Conector recto de flecha 333"/>
          <p:cNvCxnSpPr>
            <a:stCxn id="271" idx="0"/>
            <a:endCxn id="506" idx="2"/>
          </p:cNvCxnSpPr>
          <p:nvPr/>
        </p:nvCxnSpPr>
        <p:spPr>
          <a:xfrm flipV="1">
            <a:off x="5399546" y="516806"/>
            <a:ext cx="0" cy="20902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Conector recto de flecha 336"/>
          <p:cNvCxnSpPr>
            <a:stCxn id="322" idx="0"/>
            <a:endCxn id="5" idx="2"/>
          </p:cNvCxnSpPr>
          <p:nvPr/>
        </p:nvCxnSpPr>
        <p:spPr>
          <a:xfrm flipV="1">
            <a:off x="2979013" y="8617239"/>
            <a:ext cx="1924529" cy="55301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Conector recto de flecha 338"/>
          <p:cNvCxnSpPr>
            <a:stCxn id="322" idx="0"/>
            <a:endCxn id="27" idx="2"/>
          </p:cNvCxnSpPr>
          <p:nvPr/>
        </p:nvCxnSpPr>
        <p:spPr>
          <a:xfrm flipH="1" flipV="1">
            <a:off x="1279162" y="8617239"/>
            <a:ext cx="1699851" cy="55301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Conector recto de flecha 341"/>
          <p:cNvCxnSpPr>
            <a:stCxn id="322" idx="0"/>
            <a:endCxn id="301" idx="2"/>
          </p:cNvCxnSpPr>
          <p:nvPr/>
        </p:nvCxnSpPr>
        <p:spPr>
          <a:xfrm flipV="1">
            <a:off x="2979012" y="8617239"/>
            <a:ext cx="127550" cy="55301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Conector recto de flecha 345"/>
          <p:cNvCxnSpPr>
            <a:stCxn id="301" idx="0"/>
            <a:endCxn id="6" idx="2"/>
          </p:cNvCxnSpPr>
          <p:nvPr/>
        </p:nvCxnSpPr>
        <p:spPr>
          <a:xfrm flipH="1" flipV="1">
            <a:off x="1277102" y="7965204"/>
            <a:ext cx="1829460" cy="3750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Conector recto de flecha 347"/>
          <p:cNvCxnSpPr>
            <a:stCxn id="301" idx="0"/>
            <a:endCxn id="49" idx="2"/>
          </p:cNvCxnSpPr>
          <p:nvPr/>
        </p:nvCxnSpPr>
        <p:spPr>
          <a:xfrm flipV="1">
            <a:off x="3106562" y="6273374"/>
            <a:ext cx="6323696" cy="206686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Conector recto de flecha 350"/>
          <p:cNvCxnSpPr>
            <a:stCxn id="370" idx="0"/>
            <a:endCxn id="60" idx="2"/>
          </p:cNvCxnSpPr>
          <p:nvPr/>
        </p:nvCxnSpPr>
        <p:spPr>
          <a:xfrm flipH="1" flipV="1">
            <a:off x="1635571" y="9447251"/>
            <a:ext cx="597854" cy="5448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Conector recto de flecha 353"/>
          <p:cNvCxnSpPr>
            <a:stCxn id="370" idx="0"/>
            <a:endCxn id="322" idx="2"/>
          </p:cNvCxnSpPr>
          <p:nvPr/>
        </p:nvCxnSpPr>
        <p:spPr>
          <a:xfrm flipV="1">
            <a:off x="2233426" y="9447251"/>
            <a:ext cx="745587" cy="54481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Conector recto de flecha 356"/>
          <p:cNvCxnSpPr>
            <a:stCxn id="588" idx="0"/>
            <a:endCxn id="7" idx="2"/>
          </p:cNvCxnSpPr>
          <p:nvPr/>
        </p:nvCxnSpPr>
        <p:spPr>
          <a:xfrm flipV="1">
            <a:off x="8790681" y="11088666"/>
            <a:ext cx="94551" cy="5020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Conector recto de flecha 359"/>
          <p:cNvCxnSpPr>
            <a:stCxn id="588" idx="0"/>
            <a:endCxn id="5" idx="2"/>
          </p:cNvCxnSpPr>
          <p:nvPr/>
        </p:nvCxnSpPr>
        <p:spPr>
          <a:xfrm flipH="1" flipV="1">
            <a:off x="4903542" y="8617240"/>
            <a:ext cx="3887139" cy="297349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Conector recto de flecha 362"/>
          <p:cNvCxnSpPr>
            <a:stCxn id="588" idx="0"/>
            <a:endCxn id="301" idx="2"/>
          </p:cNvCxnSpPr>
          <p:nvPr/>
        </p:nvCxnSpPr>
        <p:spPr>
          <a:xfrm flipH="1" flipV="1">
            <a:off x="3106562" y="8617240"/>
            <a:ext cx="5684118" cy="297349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Conector recto de flecha 365"/>
          <p:cNvCxnSpPr>
            <a:stCxn id="576" idx="0"/>
            <a:endCxn id="301" idx="2"/>
          </p:cNvCxnSpPr>
          <p:nvPr/>
        </p:nvCxnSpPr>
        <p:spPr>
          <a:xfrm flipH="1" flipV="1">
            <a:off x="3106563" y="8617240"/>
            <a:ext cx="4655097" cy="297349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Conector recto de flecha 368"/>
          <p:cNvCxnSpPr>
            <a:stCxn id="576" idx="0"/>
            <a:endCxn id="17" idx="2"/>
          </p:cNvCxnSpPr>
          <p:nvPr/>
        </p:nvCxnSpPr>
        <p:spPr>
          <a:xfrm flipV="1">
            <a:off x="7761659" y="11088666"/>
            <a:ext cx="147714" cy="5020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Conector recto de flecha 371"/>
          <p:cNvCxnSpPr>
            <a:stCxn id="616" idx="0"/>
            <a:endCxn id="223" idx="2"/>
          </p:cNvCxnSpPr>
          <p:nvPr/>
        </p:nvCxnSpPr>
        <p:spPr>
          <a:xfrm flipV="1">
            <a:off x="722941" y="10266490"/>
            <a:ext cx="268027" cy="5451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Conector recto de flecha 374"/>
          <p:cNvCxnSpPr>
            <a:stCxn id="616" idx="0"/>
            <a:endCxn id="370" idx="2"/>
          </p:cNvCxnSpPr>
          <p:nvPr/>
        </p:nvCxnSpPr>
        <p:spPr>
          <a:xfrm flipV="1">
            <a:off x="722941" y="10269062"/>
            <a:ext cx="1510485" cy="54260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Conector recto de flecha 377"/>
          <p:cNvCxnSpPr>
            <a:stCxn id="646" idx="0"/>
            <a:endCxn id="113" idx="2"/>
          </p:cNvCxnSpPr>
          <p:nvPr/>
        </p:nvCxnSpPr>
        <p:spPr>
          <a:xfrm flipH="1" flipV="1">
            <a:off x="11185250" y="11088666"/>
            <a:ext cx="965339" cy="50207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Conector recto de flecha 380"/>
          <p:cNvCxnSpPr>
            <a:stCxn id="646" idx="0"/>
            <a:endCxn id="49" idx="2"/>
          </p:cNvCxnSpPr>
          <p:nvPr/>
        </p:nvCxnSpPr>
        <p:spPr>
          <a:xfrm flipH="1" flipV="1">
            <a:off x="9430258" y="6273374"/>
            <a:ext cx="2720330" cy="531736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Conector recto de flecha 384"/>
          <p:cNvCxnSpPr>
            <a:stCxn id="303" idx="0"/>
            <a:endCxn id="646" idx="2"/>
          </p:cNvCxnSpPr>
          <p:nvPr/>
        </p:nvCxnSpPr>
        <p:spPr>
          <a:xfrm flipV="1">
            <a:off x="10994922" y="11867738"/>
            <a:ext cx="1155666" cy="31508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Conector recto de flecha 387"/>
          <p:cNvCxnSpPr>
            <a:stCxn id="303" idx="0"/>
            <a:endCxn id="93" idx="2"/>
          </p:cNvCxnSpPr>
          <p:nvPr/>
        </p:nvCxnSpPr>
        <p:spPr>
          <a:xfrm flipH="1" flipV="1">
            <a:off x="10817872" y="11867738"/>
            <a:ext cx="177050" cy="3150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Conector recto de flecha 390"/>
          <p:cNvCxnSpPr>
            <a:stCxn id="304" idx="0"/>
            <a:endCxn id="93" idx="2"/>
          </p:cNvCxnSpPr>
          <p:nvPr/>
        </p:nvCxnSpPr>
        <p:spPr>
          <a:xfrm flipV="1">
            <a:off x="9422011" y="11867738"/>
            <a:ext cx="1395861" cy="2990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Conector recto de flecha 393"/>
          <p:cNvCxnSpPr>
            <a:stCxn id="662" idx="0"/>
            <a:endCxn id="93" idx="2"/>
          </p:cNvCxnSpPr>
          <p:nvPr/>
        </p:nvCxnSpPr>
        <p:spPr>
          <a:xfrm flipH="1" flipV="1">
            <a:off x="10817872" y="11867738"/>
            <a:ext cx="1853459" cy="3070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Conector recto de flecha 396"/>
          <p:cNvCxnSpPr>
            <a:stCxn id="662" idx="0"/>
            <a:endCxn id="646" idx="2"/>
          </p:cNvCxnSpPr>
          <p:nvPr/>
        </p:nvCxnSpPr>
        <p:spPr>
          <a:xfrm flipH="1" flipV="1">
            <a:off x="12150588" y="11867738"/>
            <a:ext cx="520743" cy="30706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Conector recto de flecha 399"/>
          <p:cNvCxnSpPr>
            <a:stCxn id="304" idx="0"/>
            <a:endCxn id="646" idx="2"/>
          </p:cNvCxnSpPr>
          <p:nvPr/>
        </p:nvCxnSpPr>
        <p:spPr>
          <a:xfrm flipV="1">
            <a:off x="9422011" y="11867738"/>
            <a:ext cx="2728577" cy="29904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Conector recto de flecha 402"/>
          <p:cNvCxnSpPr>
            <a:stCxn id="110" idx="0"/>
            <a:endCxn id="108" idx="2"/>
          </p:cNvCxnSpPr>
          <p:nvPr/>
        </p:nvCxnSpPr>
        <p:spPr>
          <a:xfrm flipH="1" flipV="1">
            <a:off x="7129512" y="4422472"/>
            <a:ext cx="265249" cy="74534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Conector recto de flecha 405"/>
          <p:cNvCxnSpPr>
            <a:stCxn id="110" idx="0"/>
            <a:endCxn id="109" idx="2"/>
          </p:cNvCxnSpPr>
          <p:nvPr/>
        </p:nvCxnSpPr>
        <p:spPr>
          <a:xfrm flipH="1" flipV="1">
            <a:off x="2840194" y="4422472"/>
            <a:ext cx="4554566" cy="7453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Conector recto de flecha 408"/>
          <p:cNvCxnSpPr>
            <a:stCxn id="110" idx="0"/>
            <a:endCxn id="99" idx="2"/>
          </p:cNvCxnSpPr>
          <p:nvPr/>
        </p:nvCxnSpPr>
        <p:spPr>
          <a:xfrm flipV="1">
            <a:off x="7394761" y="4422472"/>
            <a:ext cx="1291219" cy="74534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Conector recto de flecha 411"/>
          <p:cNvCxnSpPr>
            <a:stCxn id="49" idx="0"/>
            <a:endCxn id="110" idx="2"/>
          </p:cNvCxnSpPr>
          <p:nvPr/>
        </p:nvCxnSpPr>
        <p:spPr>
          <a:xfrm flipH="1" flipV="1">
            <a:off x="7394760" y="5444815"/>
            <a:ext cx="2035498" cy="55156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Conector recto de flecha 414"/>
          <p:cNvCxnSpPr>
            <a:stCxn id="49" idx="0"/>
            <a:endCxn id="121" idx="2"/>
          </p:cNvCxnSpPr>
          <p:nvPr/>
        </p:nvCxnSpPr>
        <p:spPr>
          <a:xfrm flipH="1" flipV="1">
            <a:off x="3571718" y="5444815"/>
            <a:ext cx="5858540" cy="5515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Conector recto de flecha 417"/>
          <p:cNvCxnSpPr>
            <a:stCxn id="108" idx="0"/>
            <a:endCxn id="37" idx="2"/>
          </p:cNvCxnSpPr>
          <p:nvPr/>
        </p:nvCxnSpPr>
        <p:spPr>
          <a:xfrm flipH="1" flipV="1">
            <a:off x="6682943" y="2549882"/>
            <a:ext cx="446569" cy="15955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1" name="Conector recto de flecha 420"/>
          <p:cNvCxnSpPr>
            <a:stCxn id="184" idx="0"/>
            <a:endCxn id="49" idx="2"/>
          </p:cNvCxnSpPr>
          <p:nvPr/>
        </p:nvCxnSpPr>
        <p:spPr>
          <a:xfrm flipV="1">
            <a:off x="8600694" y="6273375"/>
            <a:ext cx="829565" cy="61306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Conector recto de flecha 426"/>
          <p:cNvCxnSpPr>
            <a:stCxn id="184" idx="0"/>
            <a:endCxn id="48" idx="2"/>
          </p:cNvCxnSpPr>
          <p:nvPr/>
        </p:nvCxnSpPr>
        <p:spPr>
          <a:xfrm flipH="1" flipV="1">
            <a:off x="966639" y="6273375"/>
            <a:ext cx="7634054" cy="6130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Conector recto de flecha 429"/>
          <p:cNvCxnSpPr>
            <a:stCxn id="227" idx="0"/>
            <a:endCxn id="184" idx="2"/>
          </p:cNvCxnSpPr>
          <p:nvPr/>
        </p:nvCxnSpPr>
        <p:spPr>
          <a:xfrm flipV="1">
            <a:off x="5728549" y="7163436"/>
            <a:ext cx="2872144" cy="52476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Conector recto de flecha 432"/>
          <p:cNvCxnSpPr>
            <a:stCxn id="224" idx="0"/>
            <a:endCxn id="184" idx="2"/>
          </p:cNvCxnSpPr>
          <p:nvPr/>
        </p:nvCxnSpPr>
        <p:spPr>
          <a:xfrm flipV="1">
            <a:off x="8545845" y="7163436"/>
            <a:ext cx="54849" cy="52476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Conector recto de flecha 435"/>
          <p:cNvCxnSpPr>
            <a:stCxn id="5" idx="0"/>
            <a:endCxn id="227" idx="2"/>
          </p:cNvCxnSpPr>
          <p:nvPr/>
        </p:nvCxnSpPr>
        <p:spPr>
          <a:xfrm flipV="1">
            <a:off x="4903541" y="7965204"/>
            <a:ext cx="825008" cy="37503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Conector recto de flecha 438"/>
          <p:cNvCxnSpPr>
            <a:stCxn id="5" idx="0"/>
            <a:endCxn id="224" idx="2"/>
          </p:cNvCxnSpPr>
          <p:nvPr/>
        </p:nvCxnSpPr>
        <p:spPr>
          <a:xfrm flipV="1">
            <a:off x="4903542" y="7965204"/>
            <a:ext cx="3642303" cy="37503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305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4015023" y="8580899"/>
            <a:ext cx="8598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Population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3035404" y="10507979"/>
            <a:ext cx="6963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Encoder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6985838" y="11281223"/>
            <a:ext cx="7150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Creation</a:t>
            </a:r>
            <a:endParaRPr lang="es-ES" sz="1200" dirty="0">
              <a:solidFill>
                <a:srgbClr val="FF0000"/>
              </a:solidFill>
            </a:endParaRPr>
          </a:p>
        </p:txBody>
      </p:sp>
      <p:cxnSp>
        <p:nvCxnSpPr>
          <p:cNvPr id="9" name="Conector recto de flecha 8"/>
          <p:cNvCxnSpPr>
            <a:stCxn id="7" idx="0"/>
            <a:endCxn id="4" idx="2"/>
          </p:cNvCxnSpPr>
          <p:nvPr/>
        </p:nvCxnSpPr>
        <p:spPr>
          <a:xfrm flipH="1" flipV="1">
            <a:off x="4444948" y="8857898"/>
            <a:ext cx="2898392" cy="24233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/>
          <p:cNvSpPr txBox="1"/>
          <p:nvPr/>
        </p:nvSpPr>
        <p:spPr>
          <a:xfrm>
            <a:off x="7917507" y="11281223"/>
            <a:ext cx="7987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FF0000"/>
                </a:solidFill>
              </a:rPr>
              <a:t>Crossover</a:t>
            </a:r>
          </a:p>
        </p:txBody>
      </p:sp>
      <p:cxnSp>
        <p:nvCxnSpPr>
          <p:cNvPr id="18" name="Conector recto de flecha 17"/>
          <p:cNvCxnSpPr>
            <a:stCxn id="17" idx="0"/>
            <a:endCxn id="127" idx="2"/>
          </p:cNvCxnSpPr>
          <p:nvPr/>
        </p:nvCxnSpPr>
        <p:spPr>
          <a:xfrm flipV="1">
            <a:off x="8316879" y="8857898"/>
            <a:ext cx="21194" cy="24233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/>
          <p:cNvCxnSpPr>
            <a:stCxn id="17" idx="0"/>
            <a:endCxn id="4" idx="2"/>
          </p:cNvCxnSpPr>
          <p:nvPr/>
        </p:nvCxnSpPr>
        <p:spPr>
          <a:xfrm flipH="1" flipV="1">
            <a:off x="4444949" y="8857898"/>
            <a:ext cx="3871931" cy="24233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uadroTexto 26"/>
          <p:cNvSpPr txBox="1"/>
          <p:nvPr/>
        </p:nvSpPr>
        <p:spPr>
          <a:xfrm>
            <a:off x="3027390" y="11281223"/>
            <a:ext cx="7123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Decoder</a:t>
            </a:r>
            <a:endParaRPr lang="es-ES" sz="1200" dirty="0">
              <a:solidFill>
                <a:srgbClr val="FF0000"/>
              </a:solidFill>
            </a:endParaRPr>
          </a:p>
        </p:txBody>
      </p:sp>
      <p:cxnSp>
        <p:nvCxnSpPr>
          <p:cNvPr id="28" name="Conector recto de flecha 27"/>
          <p:cNvCxnSpPr/>
          <p:nvPr/>
        </p:nvCxnSpPr>
        <p:spPr>
          <a:xfrm flipH="1" flipV="1">
            <a:off x="3383577" y="10784977"/>
            <a:ext cx="1" cy="4962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34"/>
          <p:cNvSpPr txBox="1"/>
          <p:nvPr/>
        </p:nvSpPr>
        <p:spPr>
          <a:xfrm>
            <a:off x="7365024" y="3928879"/>
            <a:ext cx="10192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TimeWindow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4920099" y="2146970"/>
            <a:ext cx="6832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heading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3871487" y="3030874"/>
            <a:ext cx="4299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FF0000"/>
                </a:solidFill>
              </a:rPr>
              <a:t>TFN</a:t>
            </a:r>
          </a:p>
        </p:txBody>
      </p:sp>
      <p:cxnSp>
        <p:nvCxnSpPr>
          <p:cNvPr id="41" name="Conector recto de flecha 40"/>
          <p:cNvCxnSpPr>
            <a:stCxn id="35" idx="0"/>
            <a:endCxn id="37" idx="2"/>
          </p:cNvCxnSpPr>
          <p:nvPr/>
        </p:nvCxnSpPr>
        <p:spPr>
          <a:xfrm flipH="1" flipV="1">
            <a:off x="4086450" y="3307872"/>
            <a:ext cx="3788200" cy="6210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uadroTexto 43"/>
          <p:cNvSpPr txBox="1"/>
          <p:nvPr/>
        </p:nvSpPr>
        <p:spPr>
          <a:xfrm>
            <a:off x="6956897" y="4726753"/>
            <a:ext cx="1835502" cy="27699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7030A0"/>
                </a:solidFill>
              </a:rPr>
              <a:t>TimeWindowClassRegister</a:t>
            </a:r>
            <a:endParaRPr lang="es-ES" sz="1200" dirty="0">
              <a:solidFill>
                <a:srgbClr val="7030A0"/>
              </a:solidFill>
            </a:endParaRPr>
          </a:p>
        </p:txBody>
      </p:sp>
      <p:cxnSp>
        <p:nvCxnSpPr>
          <p:cNvPr id="45" name="Conector recto de flecha 44"/>
          <p:cNvCxnSpPr/>
          <p:nvPr/>
        </p:nvCxnSpPr>
        <p:spPr>
          <a:xfrm flipV="1">
            <a:off x="7874650" y="4205876"/>
            <a:ext cx="1" cy="5208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/>
          <p:cNvSpPr txBox="1"/>
          <p:nvPr/>
        </p:nvSpPr>
        <p:spPr>
          <a:xfrm>
            <a:off x="4786214" y="6634439"/>
            <a:ext cx="8799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SharedVars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3625148" y="7596300"/>
            <a:ext cx="7922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FF0000"/>
                </a:solidFill>
              </a:rPr>
              <a:t>Individual</a:t>
            </a:r>
          </a:p>
        </p:txBody>
      </p:sp>
      <p:cxnSp>
        <p:nvCxnSpPr>
          <p:cNvPr id="51" name="Conector recto de flecha 50"/>
          <p:cNvCxnSpPr>
            <a:stCxn id="6" idx="0"/>
            <a:endCxn id="50" idx="2"/>
          </p:cNvCxnSpPr>
          <p:nvPr/>
        </p:nvCxnSpPr>
        <p:spPr>
          <a:xfrm flipV="1">
            <a:off x="3383576" y="7873298"/>
            <a:ext cx="637674" cy="26346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CuadroTexto 59"/>
          <p:cNvSpPr txBox="1"/>
          <p:nvPr/>
        </p:nvSpPr>
        <p:spPr>
          <a:xfrm>
            <a:off x="10977308" y="9928243"/>
            <a:ext cx="8330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Evaluation</a:t>
            </a:r>
            <a:endParaRPr lang="es-ES" sz="1200" dirty="0">
              <a:solidFill>
                <a:srgbClr val="FF0000"/>
              </a:solidFill>
            </a:endParaRPr>
          </a:p>
        </p:txBody>
      </p:sp>
      <p:cxnSp>
        <p:nvCxnSpPr>
          <p:cNvPr id="61" name="Conector recto de flecha 60"/>
          <p:cNvCxnSpPr>
            <a:stCxn id="60" idx="0"/>
            <a:endCxn id="127" idx="2"/>
          </p:cNvCxnSpPr>
          <p:nvPr/>
        </p:nvCxnSpPr>
        <p:spPr>
          <a:xfrm flipH="1" flipV="1">
            <a:off x="8338074" y="8857898"/>
            <a:ext cx="3055759" cy="10703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/>
          <p:cNvCxnSpPr>
            <a:stCxn id="60" idx="0"/>
            <a:endCxn id="4" idx="2"/>
          </p:cNvCxnSpPr>
          <p:nvPr/>
        </p:nvCxnSpPr>
        <p:spPr>
          <a:xfrm flipH="1" flipV="1">
            <a:off x="4444948" y="8857898"/>
            <a:ext cx="6948884" cy="10703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uadroTexto 66"/>
          <p:cNvSpPr txBox="1"/>
          <p:nvPr/>
        </p:nvSpPr>
        <p:spPr>
          <a:xfrm>
            <a:off x="9469803" y="11281223"/>
            <a:ext cx="1649298" cy="27699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7030A0"/>
                </a:solidFill>
              </a:rPr>
              <a:t>EvaluationClassRegister</a:t>
            </a:r>
            <a:endParaRPr lang="es-ES" sz="1200" dirty="0">
              <a:solidFill>
                <a:srgbClr val="7030A0"/>
              </a:solidFill>
            </a:endParaRPr>
          </a:p>
        </p:txBody>
      </p:sp>
      <p:sp>
        <p:nvSpPr>
          <p:cNvPr id="76" name="CuadroTexto 75"/>
          <p:cNvSpPr txBox="1"/>
          <p:nvPr/>
        </p:nvSpPr>
        <p:spPr>
          <a:xfrm>
            <a:off x="6864939" y="14037831"/>
            <a:ext cx="9795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EvoLauncher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77" name="CuadroTexto 76"/>
          <p:cNvSpPr txBox="1"/>
          <p:nvPr/>
        </p:nvSpPr>
        <p:spPr>
          <a:xfrm>
            <a:off x="8328534" y="12663690"/>
            <a:ext cx="12888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GeneticAlgorithm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78" name="CuadroTexto 77"/>
          <p:cNvSpPr txBox="1"/>
          <p:nvPr/>
        </p:nvSpPr>
        <p:spPr>
          <a:xfrm>
            <a:off x="4718343" y="4726753"/>
            <a:ext cx="10156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ParameterDB</a:t>
            </a:r>
            <a:endParaRPr lang="es-ES" sz="1200" dirty="0">
              <a:solidFill>
                <a:srgbClr val="FF0000"/>
              </a:solidFill>
            </a:endParaRPr>
          </a:p>
        </p:txBody>
      </p:sp>
      <p:cxnSp>
        <p:nvCxnSpPr>
          <p:cNvPr id="91" name="Conector recto de flecha 90"/>
          <p:cNvCxnSpPr/>
          <p:nvPr/>
        </p:nvCxnSpPr>
        <p:spPr>
          <a:xfrm flipV="1">
            <a:off x="7354722" y="13627258"/>
            <a:ext cx="1" cy="4105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de flecha 95"/>
          <p:cNvCxnSpPr>
            <a:stCxn id="95" idx="0"/>
            <a:endCxn id="67" idx="2"/>
          </p:cNvCxnSpPr>
          <p:nvPr/>
        </p:nvCxnSpPr>
        <p:spPr>
          <a:xfrm flipH="1" flipV="1">
            <a:off x="10294452" y="11558222"/>
            <a:ext cx="950534" cy="506899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CuadroTexto 94"/>
          <p:cNvSpPr txBox="1"/>
          <p:nvPr/>
        </p:nvSpPr>
        <p:spPr>
          <a:xfrm>
            <a:off x="10558484" y="12065121"/>
            <a:ext cx="13730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EvolutiveAlgorithm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100" name="CuadroTexto 99"/>
          <p:cNvSpPr txBox="1"/>
          <p:nvPr/>
        </p:nvSpPr>
        <p:spPr>
          <a:xfrm>
            <a:off x="1289807" y="6634439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FF0000"/>
                </a:solidFill>
              </a:rPr>
              <a:t>Fitness</a:t>
            </a:r>
          </a:p>
        </p:txBody>
      </p:sp>
      <p:cxnSp>
        <p:nvCxnSpPr>
          <p:cNvPr id="104" name="Conector recto de flecha 103"/>
          <p:cNvCxnSpPr>
            <a:stCxn id="100" idx="0"/>
            <a:endCxn id="37" idx="2"/>
          </p:cNvCxnSpPr>
          <p:nvPr/>
        </p:nvCxnSpPr>
        <p:spPr>
          <a:xfrm flipV="1">
            <a:off x="1600148" y="3307872"/>
            <a:ext cx="2486302" cy="33265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CuadroTexto 106"/>
          <p:cNvSpPr txBox="1"/>
          <p:nvPr/>
        </p:nvSpPr>
        <p:spPr>
          <a:xfrm>
            <a:off x="3772283" y="864056"/>
            <a:ext cx="1341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FuzzyFWException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109" name="CuadroTexto 108"/>
          <p:cNvSpPr txBox="1"/>
          <p:nvPr/>
        </p:nvSpPr>
        <p:spPr>
          <a:xfrm>
            <a:off x="4869795" y="5685514"/>
            <a:ext cx="7127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Problem</a:t>
            </a:r>
            <a:endParaRPr lang="es-ES" sz="1200" dirty="0">
              <a:solidFill>
                <a:srgbClr val="FF0000"/>
              </a:solidFill>
            </a:endParaRPr>
          </a:p>
        </p:txBody>
      </p:sp>
      <p:cxnSp>
        <p:nvCxnSpPr>
          <p:cNvPr id="114" name="Conector recto de flecha 113"/>
          <p:cNvCxnSpPr>
            <a:stCxn id="109" idx="0"/>
            <a:endCxn id="44" idx="2"/>
          </p:cNvCxnSpPr>
          <p:nvPr/>
        </p:nvCxnSpPr>
        <p:spPr>
          <a:xfrm flipV="1">
            <a:off x="5226174" y="5003751"/>
            <a:ext cx="2648474" cy="68176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CuadroTexto 120"/>
          <p:cNvSpPr txBox="1"/>
          <p:nvPr/>
        </p:nvSpPr>
        <p:spPr>
          <a:xfrm>
            <a:off x="2805883" y="6634439"/>
            <a:ext cx="700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Solution</a:t>
            </a:r>
            <a:endParaRPr lang="es-ES" sz="1200" dirty="0">
              <a:solidFill>
                <a:srgbClr val="FF0000"/>
              </a:solidFill>
            </a:endParaRPr>
          </a:p>
        </p:txBody>
      </p:sp>
      <p:cxnSp>
        <p:nvCxnSpPr>
          <p:cNvPr id="214" name="Conector recto de flecha 213"/>
          <p:cNvCxnSpPr/>
          <p:nvPr/>
        </p:nvCxnSpPr>
        <p:spPr>
          <a:xfrm flipH="1" flipV="1">
            <a:off x="8972621" y="12342118"/>
            <a:ext cx="700" cy="3215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CuadroTexto 219"/>
          <p:cNvSpPr txBox="1"/>
          <p:nvPr/>
        </p:nvSpPr>
        <p:spPr>
          <a:xfrm>
            <a:off x="3851224" y="11281223"/>
            <a:ext cx="758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Selection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221" name="CuadroTexto 220"/>
          <p:cNvSpPr txBox="1"/>
          <p:nvPr/>
        </p:nvSpPr>
        <p:spPr>
          <a:xfrm>
            <a:off x="5919450" y="11281223"/>
            <a:ext cx="766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Mutation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222" name="CuadroTexto 221"/>
          <p:cNvSpPr txBox="1"/>
          <p:nvPr/>
        </p:nvSpPr>
        <p:spPr>
          <a:xfrm>
            <a:off x="4756112" y="11281223"/>
            <a:ext cx="10045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Replacement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223" name="CuadroTexto 222"/>
          <p:cNvSpPr txBox="1"/>
          <p:nvPr/>
        </p:nvSpPr>
        <p:spPr>
          <a:xfrm>
            <a:off x="12042467" y="10507979"/>
            <a:ext cx="735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Statistics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225" name="CuadroTexto 224"/>
          <p:cNvSpPr txBox="1"/>
          <p:nvPr/>
        </p:nvSpPr>
        <p:spPr>
          <a:xfrm>
            <a:off x="5227758" y="12065121"/>
            <a:ext cx="1484189" cy="27699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7030A0"/>
                </a:solidFill>
              </a:rPr>
              <a:t>GeneticClassRegister</a:t>
            </a:r>
            <a:endParaRPr lang="es-ES" sz="1200" dirty="0">
              <a:solidFill>
                <a:srgbClr val="7030A0"/>
              </a:solidFill>
            </a:endParaRPr>
          </a:p>
        </p:txBody>
      </p:sp>
      <p:cxnSp>
        <p:nvCxnSpPr>
          <p:cNvPr id="234" name="Conector recto de flecha 233"/>
          <p:cNvCxnSpPr>
            <a:stCxn id="225" idx="0"/>
            <a:endCxn id="220" idx="2"/>
          </p:cNvCxnSpPr>
          <p:nvPr/>
        </p:nvCxnSpPr>
        <p:spPr>
          <a:xfrm flipH="1" flipV="1">
            <a:off x="4230494" y="11558222"/>
            <a:ext cx="1739358" cy="5068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onector recto de flecha 236"/>
          <p:cNvCxnSpPr>
            <a:stCxn id="225" idx="0"/>
            <a:endCxn id="221" idx="2"/>
          </p:cNvCxnSpPr>
          <p:nvPr/>
        </p:nvCxnSpPr>
        <p:spPr>
          <a:xfrm flipV="1">
            <a:off x="5969852" y="11558222"/>
            <a:ext cx="332844" cy="5068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ector recto de flecha 239"/>
          <p:cNvCxnSpPr>
            <a:stCxn id="225" idx="0"/>
            <a:endCxn id="222" idx="2"/>
          </p:cNvCxnSpPr>
          <p:nvPr/>
        </p:nvCxnSpPr>
        <p:spPr>
          <a:xfrm flipH="1" flipV="1">
            <a:off x="5258366" y="11558222"/>
            <a:ext cx="711487" cy="5068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onector recto de flecha 242"/>
          <p:cNvCxnSpPr>
            <a:stCxn id="225" idx="0"/>
            <a:endCxn id="27" idx="2"/>
          </p:cNvCxnSpPr>
          <p:nvPr/>
        </p:nvCxnSpPr>
        <p:spPr>
          <a:xfrm flipH="1" flipV="1">
            <a:off x="3383578" y="11558222"/>
            <a:ext cx="2586275" cy="5068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onector recto de flecha 245"/>
          <p:cNvCxnSpPr>
            <a:stCxn id="77" idx="0"/>
            <a:endCxn id="225" idx="2"/>
          </p:cNvCxnSpPr>
          <p:nvPr/>
        </p:nvCxnSpPr>
        <p:spPr>
          <a:xfrm flipH="1" flipV="1">
            <a:off x="5969853" y="12342119"/>
            <a:ext cx="3003121" cy="32157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Conector recto de flecha 260"/>
          <p:cNvCxnSpPr>
            <a:stCxn id="36" idx="0"/>
            <a:endCxn id="107" idx="2"/>
          </p:cNvCxnSpPr>
          <p:nvPr/>
        </p:nvCxnSpPr>
        <p:spPr>
          <a:xfrm flipH="1" flipV="1">
            <a:off x="4442947" y="1141055"/>
            <a:ext cx="818752" cy="10059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CuadroTexto 270"/>
          <p:cNvSpPr txBox="1"/>
          <p:nvPr/>
        </p:nvSpPr>
        <p:spPr>
          <a:xfrm>
            <a:off x="5728310" y="864056"/>
            <a:ext cx="9140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RandomMT</a:t>
            </a:r>
            <a:endParaRPr lang="es-ES" sz="1200" dirty="0">
              <a:solidFill>
                <a:srgbClr val="FF0000"/>
              </a:solidFill>
            </a:endParaRPr>
          </a:p>
        </p:txBody>
      </p:sp>
      <p:cxnSp>
        <p:nvCxnSpPr>
          <p:cNvPr id="272" name="Conector recto de flecha 271"/>
          <p:cNvCxnSpPr>
            <a:stCxn id="36" idx="0"/>
            <a:endCxn id="271" idx="2"/>
          </p:cNvCxnSpPr>
          <p:nvPr/>
        </p:nvCxnSpPr>
        <p:spPr>
          <a:xfrm flipV="1">
            <a:off x="5261700" y="1141055"/>
            <a:ext cx="923627" cy="10059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Conector recto de flecha 466"/>
          <p:cNvCxnSpPr>
            <a:stCxn id="50" idx="0"/>
            <a:endCxn id="48" idx="2"/>
          </p:cNvCxnSpPr>
          <p:nvPr/>
        </p:nvCxnSpPr>
        <p:spPr>
          <a:xfrm flipV="1">
            <a:off x="4021250" y="6911437"/>
            <a:ext cx="1204924" cy="6848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Conector recto de flecha 471"/>
          <p:cNvCxnSpPr>
            <a:stCxn id="50" idx="0"/>
            <a:endCxn id="100" idx="2"/>
          </p:cNvCxnSpPr>
          <p:nvPr/>
        </p:nvCxnSpPr>
        <p:spPr>
          <a:xfrm flipH="1" flipV="1">
            <a:off x="1600148" y="6911437"/>
            <a:ext cx="2421102" cy="6848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Conector recto de flecha 474"/>
          <p:cNvCxnSpPr>
            <a:stCxn id="50" idx="0"/>
            <a:endCxn id="121" idx="2"/>
          </p:cNvCxnSpPr>
          <p:nvPr/>
        </p:nvCxnSpPr>
        <p:spPr>
          <a:xfrm flipH="1" flipV="1">
            <a:off x="3156300" y="6911437"/>
            <a:ext cx="864951" cy="6848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Conector recto de flecha 480"/>
          <p:cNvCxnSpPr>
            <a:stCxn id="221" idx="0"/>
            <a:endCxn id="4" idx="2"/>
          </p:cNvCxnSpPr>
          <p:nvPr/>
        </p:nvCxnSpPr>
        <p:spPr>
          <a:xfrm flipH="1" flipV="1">
            <a:off x="4444948" y="8857898"/>
            <a:ext cx="1857748" cy="24233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Conector recto de flecha 483"/>
          <p:cNvCxnSpPr>
            <a:stCxn id="78" idx="0"/>
            <a:endCxn id="36" idx="2"/>
          </p:cNvCxnSpPr>
          <p:nvPr/>
        </p:nvCxnSpPr>
        <p:spPr>
          <a:xfrm flipV="1">
            <a:off x="5226175" y="2423968"/>
            <a:ext cx="35525" cy="23027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Conector recto de flecha 492"/>
          <p:cNvCxnSpPr>
            <a:stCxn id="4" idx="0"/>
            <a:endCxn id="50" idx="2"/>
          </p:cNvCxnSpPr>
          <p:nvPr/>
        </p:nvCxnSpPr>
        <p:spPr>
          <a:xfrm flipH="1" flipV="1">
            <a:off x="4021250" y="7873298"/>
            <a:ext cx="423698" cy="707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Conector recto de flecha 502"/>
          <p:cNvCxnSpPr/>
          <p:nvPr/>
        </p:nvCxnSpPr>
        <p:spPr>
          <a:xfrm flipV="1">
            <a:off x="5226172" y="5033832"/>
            <a:ext cx="0" cy="6516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6" name="CuadroTexto 505"/>
          <p:cNvSpPr txBox="1"/>
          <p:nvPr/>
        </p:nvSpPr>
        <p:spPr>
          <a:xfrm>
            <a:off x="5842336" y="239807"/>
            <a:ext cx="7072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Random</a:t>
            </a:r>
            <a:endParaRPr lang="es-ES" sz="1200" dirty="0">
              <a:solidFill>
                <a:srgbClr val="FF0000"/>
              </a:solidFill>
            </a:endParaRPr>
          </a:p>
        </p:txBody>
      </p:sp>
      <p:cxnSp>
        <p:nvCxnSpPr>
          <p:cNvPr id="507" name="Conector recto de flecha 506"/>
          <p:cNvCxnSpPr>
            <a:stCxn id="271" idx="0"/>
            <a:endCxn id="506" idx="2"/>
          </p:cNvCxnSpPr>
          <p:nvPr/>
        </p:nvCxnSpPr>
        <p:spPr>
          <a:xfrm flipV="1">
            <a:off x="6185326" y="516805"/>
            <a:ext cx="10632" cy="3472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7" name="Conector recto de flecha 516"/>
          <p:cNvCxnSpPr>
            <a:stCxn id="222" idx="0"/>
            <a:endCxn id="4" idx="2"/>
          </p:cNvCxnSpPr>
          <p:nvPr/>
        </p:nvCxnSpPr>
        <p:spPr>
          <a:xfrm flipH="1" flipV="1">
            <a:off x="4444949" y="8857898"/>
            <a:ext cx="813417" cy="24233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Conector recto de flecha 543"/>
          <p:cNvCxnSpPr>
            <a:stCxn id="220" idx="0"/>
            <a:endCxn id="4" idx="2"/>
          </p:cNvCxnSpPr>
          <p:nvPr/>
        </p:nvCxnSpPr>
        <p:spPr>
          <a:xfrm flipV="1">
            <a:off x="4230494" y="8857898"/>
            <a:ext cx="214454" cy="24233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Conector recto de flecha 546"/>
          <p:cNvCxnSpPr/>
          <p:nvPr/>
        </p:nvCxnSpPr>
        <p:spPr>
          <a:xfrm flipV="1">
            <a:off x="5226172" y="5962513"/>
            <a:ext cx="0" cy="6719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3" name="Conector recto de flecha 552"/>
          <p:cNvCxnSpPr>
            <a:stCxn id="121" idx="0"/>
            <a:endCxn id="36" idx="2"/>
          </p:cNvCxnSpPr>
          <p:nvPr/>
        </p:nvCxnSpPr>
        <p:spPr>
          <a:xfrm flipV="1">
            <a:off x="3156299" y="2423968"/>
            <a:ext cx="2105400" cy="42104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Conector recto de flecha 555"/>
          <p:cNvCxnSpPr>
            <a:stCxn id="223" idx="0"/>
            <a:endCxn id="60" idx="2"/>
          </p:cNvCxnSpPr>
          <p:nvPr/>
        </p:nvCxnSpPr>
        <p:spPr>
          <a:xfrm flipH="1" flipV="1">
            <a:off x="11393832" y="10205242"/>
            <a:ext cx="1016588" cy="3027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Conector recto de flecha 565"/>
          <p:cNvCxnSpPr>
            <a:stCxn id="37" idx="0"/>
            <a:endCxn id="36" idx="2"/>
          </p:cNvCxnSpPr>
          <p:nvPr/>
        </p:nvCxnSpPr>
        <p:spPr>
          <a:xfrm flipV="1">
            <a:off x="4086451" y="2423969"/>
            <a:ext cx="1175249" cy="6069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CuadroTexto 86"/>
          <p:cNvSpPr txBox="1"/>
          <p:nvPr/>
        </p:nvSpPr>
        <p:spPr>
          <a:xfrm>
            <a:off x="1238100" y="12663690"/>
            <a:ext cx="1737976" cy="27699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7030A0"/>
                </a:solidFill>
              </a:rPr>
              <a:t>LocalSearchClassRegister</a:t>
            </a:r>
            <a:endParaRPr lang="es-ES" sz="1200" dirty="0">
              <a:solidFill>
                <a:srgbClr val="7030A0"/>
              </a:solidFill>
            </a:endParaRPr>
          </a:p>
        </p:txBody>
      </p:sp>
      <p:sp>
        <p:nvSpPr>
          <p:cNvPr id="88" name="CuadroTexto 87"/>
          <p:cNvSpPr txBox="1"/>
          <p:nvPr/>
        </p:nvSpPr>
        <p:spPr>
          <a:xfrm>
            <a:off x="1646226" y="12065121"/>
            <a:ext cx="921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LocalSearch</a:t>
            </a:r>
            <a:endParaRPr lang="es-ES" sz="1200" dirty="0">
              <a:solidFill>
                <a:srgbClr val="FF0000"/>
              </a:solidFill>
            </a:endParaRPr>
          </a:p>
        </p:txBody>
      </p:sp>
      <p:cxnSp>
        <p:nvCxnSpPr>
          <p:cNvPr id="89" name="Conector recto de flecha 88"/>
          <p:cNvCxnSpPr/>
          <p:nvPr/>
        </p:nvCxnSpPr>
        <p:spPr>
          <a:xfrm flipV="1">
            <a:off x="2107089" y="12342118"/>
            <a:ext cx="1" cy="3215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uadroTexto 92"/>
          <p:cNvSpPr txBox="1"/>
          <p:nvPr/>
        </p:nvSpPr>
        <p:spPr>
          <a:xfrm>
            <a:off x="1524562" y="11281223"/>
            <a:ext cx="11673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Neighbourhood</a:t>
            </a:r>
            <a:endParaRPr lang="es-ES" sz="1200" dirty="0">
              <a:solidFill>
                <a:srgbClr val="FF0000"/>
              </a:solidFill>
            </a:endParaRPr>
          </a:p>
        </p:txBody>
      </p:sp>
      <p:cxnSp>
        <p:nvCxnSpPr>
          <p:cNvPr id="94" name="Conector recto de flecha 93"/>
          <p:cNvCxnSpPr>
            <a:stCxn id="88" idx="0"/>
            <a:endCxn id="93" idx="2"/>
          </p:cNvCxnSpPr>
          <p:nvPr/>
        </p:nvCxnSpPr>
        <p:spPr>
          <a:xfrm flipV="1">
            <a:off x="2107089" y="11558222"/>
            <a:ext cx="1126" cy="5068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CuadroTexto 112"/>
          <p:cNvSpPr txBox="1"/>
          <p:nvPr/>
        </p:nvSpPr>
        <p:spPr>
          <a:xfrm>
            <a:off x="1020431" y="10507979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Neighbour</a:t>
            </a:r>
            <a:endParaRPr lang="es-ES" sz="1200" dirty="0">
              <a:solidFill>
                <a:srgbClr val="FF0000"/>
              </a:solidFill>
            </a:endParaRPr>
          </a:p>
        </p:txBody>
      </p:sp>
      <p:cxnSp>
        <p:nvCxnSpPr>
          <p:cNvPr id="115" name="Conector recto de flecha 114"/>
          <p:cNvCxnSpPr>
            <a:stCxn id="113" idx="0"/>
            <a:endCxn id="100" idx="2"/>
          </p:cNvCxnSpPr>
          <p:nvPr/>
        </p:nvCxnSpPr>
        <p:spPr>
          <a:xfrm flipV="1">
            <a:off x="1442182" y="6911438"/>
            <a:ext cx="157967" cy="35965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CuadroTexto 119"/>
          <p:cNvSpPr txBox="1"/>
          <p:nvPr/>
        </p:nvSpPr>
        <p:spPr>
          <a:xfrm>
            <a:off x="6671812" y="13350260"/>
            <a:ext cx="13658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MemeticAlgorithm</a:t>
            </a:r>
            <a:endParaRPr lang="es-ES" sz="1200" dirty="0">
              <a:solidFill>
                <a:srgbClr val="FF0000"/>
              </a:solidFill>
            </a:endParaRPr>
          </a:p>
        </p:txBody>
      </p:sp>
      <p:cxnSp>
        <p:nvCxnSpPr>
          <p:cNvPr id="122" name="Conector recto de flecha 121"/>
          <p:cNvCxnSpPr>
            <a:stCxn id="120" idx="0"/>
            <a:endCxn id="87" idx="2"/>
          </p:cNvCxnSpPr>
          <p:nvPr/>
        </p:nvCxnSpPr>
        <p:spPr>
          <a:xfrm flipH="1" flipV="1">
            <a:off x="2107089" y="12940689"/>
            <a:ext cx="5247635" cy="40957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cto de flecha 123"/>
          <p:cNvCxnSpPr>
            <a:stCxn id="120" idx="0"/>
            <a:endCxn id="77" idx="2"/>
          </p:cNvCxnSpPr>
          <p:nvPr/>
        </p:nvCxnSpPr>
        <p:spPr>
          <a:xfrm flipV="1">
            <a:off x="7354723" y="12940689"/>
            <a:ext cx="1618250" cy="4095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CuadroTexto 126"/>
          <p:cNvSpPr txBox="1"/>
          <p:nvPr/>
        </p:nvSpPr>
        <p:spPr>
          <a:xfrm>
            <a:off x="7507493" y="8580899"/>
            <a:ext cx="16611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SharedVarsEvolutionary</a:t>
            </a:r>
            <a:endParaRPr lang="es-ES" sz="1200" dirty="0">
              <a:solidFill>
                <a:srgbClr val="FF0000"/>
              </a:solidFill>
            </a:endParaRPr>
          </a:p>
        </p:txBody>
      </p:sp>
      <p:cxnSp>
        <p:nvCxnSpPr>
          <p:cNvPr id="128" name="Conector recto de flecha 127"/>
          <p:cNvCxnSpPr>
            <a:stCxn id="127" idx="0"/>
            <a:endCxn id="48" idx="2"/>
          </p:cNvCxnSpPr>
          <p:nvPr/>
        </p:nvCxnSpPr>
        <p:spPr>
          <a:xfrm flipH="1" flipV="1">
            <a:off x="5226175" y="6911438"/>
            <a:ext cx="3111899" cy="16694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Conector recto de flecha 232"/>
          <p:cNvCxnSpPr>
            <a:stCxn id="127" idx="2"/>
            <a:endCxn id="6" idx="0"/>
          </p:cNvCxnSpPr>
          <p:nvPr/>
        </p:nvCxnSpPr>
        <p:spPr>
          <a:xfrm flipH="1">
            <a:off x="3383577" y="8857898"/>
            <a:ext cx="4954497" cy="1650081"/>
          </a:xfrm>
          <a:prstGeom prst="straightConnector1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2" name="Conector recto de flecha 241"/>
          <p:cNvCxnSpPr>
            <a:stCxn id="127" idx="2"/>
            <a:endCxn id="27" idx="0"/>
          </p:cNvCxnSpPr>
          <p:nvPr/>
        </p:nvCxnSpPr>
        <p:spPr>
          <a:xfrm flipH="1">
            <a:off x="3383577" y="8857898"/>
            <a:ext cx="4954496" cy="2423325"/>
          </a:xfrm>
          <a:prstGeom prst="straightConnector1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5" name="Conector recto de flecha 344"/>
          <p:cNvCxnSpPr>
            <a:stCxn id="6" idx="0"/>
            <a:endCxn id="127" idx="2"/>
          </p:cNvCxnSpPr>
          <p:nvPr/>
        </p:nvCxnSpPr>
        <p:spPr>
          <a:xfrm flipV="1">
            <a:off x="3383577" y="8857898"/>
            <a:ext cx="4954497" cy="16500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7" name="Conector recto de flecha 576"/>
          <p:cNvCxnSpPr>
            <a:stCxn id="225" idx="0"/>
            <a:endCxn id="17" idx="2"/>
          </p:cNvCxnSpPr>
          <p:nvPr/>
        </p:nvCxnSpPr>
        <p:spPr>
          <a:xfrm flipV="1">
            <a:off x="5969853" y="11558222"/>
            <a:ext cx="2347027" cy="5068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5" name="Conector recto de flecha 584"/>
          <p:cNvCxnSpPr>
            <a:stCxn id="7" idx="0"/>
            <a:endCxn id="127" idx="2"/>
          </p:cNvCxnSpPr>
          <p:nvPr/>
        </p:nvCxnSpPr>
        <p:spPr>
          <a:xfrm flipV="1">
            <a:off x="7343341" y="8857898"/>
            <a:ext cx="994733" cy="24233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Conector recto de flecha 589"/>
          <p:cNvCxnSpPr>
            <a:stCxn id="225" idx="0"/>
            <a:endCxn id="7" idx="2"/>
          </p:cNvCxnSpPr>
          <p:nvPr/>
        </p:nvCxnSpPr>
        <p:spPr>
          <a:xfrm flipV="1">
            <a:off x="5969852" y="11558222"/>
            <a:ext cx="1373488" cy="5068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Conector recto de flecha 616"/>
          <p:cNvCxnSpPr/>
          <p:nvPr/>
        </p:nvCxnSpPr>
        <p:spPr>
          <a:xfrm flipV="1">
            <a:off x="12410420" y="10784978"/>
            <a:ext cx="1" cy="4902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3" name="CuadroTexto 622"/>
          <p:cNvSpPr txBox="1"/>
          <p:nvPr/>
        </p:nvSpPr>
        <p:spPr>
          <a:xfrm>
            <a:off x="11634340" y="11281223"/>
            <a:ext cx="1552156" cy="27699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7030A0"/>
                </a:solidFill>
              </a:rPr>
              <a:t>StatisticsClassRegister</a:t>
            </a:r>
            <a:endParaRPr lang="es-ES" sz="1200" dirty="0">
              <a:solidFill>
                <a:srgbClr val="7030A0"/>
              </a:solidFill>
            </a:endParaRPr>
          </a:p>
        </p:txBody>
      </p:sp>
      <p:cxnSp>
        <p:nvCxnSpPr>
          <p:cNvPr id="635" name="Conector recto de flecha 634"/>
          <p:cNvCxnSpPr>
            <a:stCxn id="95" idx="0"/>
            <a:endCxn id="623" idx="2"/>
          </p:cNvCxnSpPr>
          <p:nvPr/>
        </p:nvCxnSpPr>
        <p:spPr>
          <a:xfrm flipV="1">
            <a:off x="11244986" y="11558222"/>
            <a:ext cx="1165432" cy="506899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2" name="CuadroTexto 641"/>
          <p:cNvSpPr txBox="1"/>
          <p:nvPr/>
        </p:nvSpPr>
        <p:spPr>
          <a:xfrm>
            <a:off x="8522335" y="12065121"/>
            <a:ext cx="9012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DataPrinter</a:t>
            </a:r>
            <a:endParaRPr lang="es-ES" sz="1200" dirty="0">
              <a:solidFill>
                <a:srgbClr val="FF0000"/>
              </a:solidFill>
            </a:endParaRPr>
          </a:p>
        </p:txBody>
      </p:sp>
      <p:cxnSp>
        <p:nvCxnSpPr>
          <p:cNvPr id="643" name="Conector recto de flecha 642"/>
          <p:cNvCxnSpPr>
            <a:stCxn id="77" idx="0"/>
            <a:endCxn id="95" idx="2"/>
          </p:cNvCxnSpPr>
          <p:nvPr/>
        </p:nvCxnSpPr>
        <p:spPr>
          <a:xfrm flipV="1">
            <a:off x="8972974" y="12342119"/>
            <a:ext cx="2272013" cy="3215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Conector recto de flecha 650"/>
          <p:cNvCxnSpPr>
            <a:stCxn id="93" idx="0"/>
            <a:endCxn id="113" idx="2"/>
          </p:cNvCxnSpPr>
          <p:nvPr/>
        </p:nvCxnSpPr>
        <p:spPr>
          <a:xfrm flipH="1" flipV="1">
            <a:off x="1442181" y="10784978"/>
            <a:ext cx="666034" cy="4962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4" name="Conector recto de flecha 653"/>
          <p:cNvCxnSpPr>
            <a:stCxn id="93" idx="0"/>
            <a:endCxn id="121" idx="2"/>
          </p:cNvCxnSpPr>
          <p:nvPr/>
        </p:nvCxnSpPr>
        <p:spPr>
          <a:xfrm flipV="1">
            <a:off x="2108215" y="6911438"/>
            <a:ext cx="1048084" cy="43697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7" name="Conector recto de flecha 656"/>
          <p:cNvCxnSpPr>
            <a:stCxn id="93" idx="0"/>
            <a:endCxn id="48" idx="2"/>
          </p:cNvCxnSpPr>
          <p:nvPr/>
        </p:nvCxnSpPr>
        <p:spPr>
          <a:xfrm flipV="1">
            <a:off x="2108216" y="6911438"/>
            <a:ext cx="3117959" cy="43697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5" name="Conector recto de flecha 1164"/>
          <p:cNvCxnSpPr>
            <a:stCxn id="67" idx="0"/>
            <a:endCxn id="60" idx="2"/>
          </p:cNvCxnSpPr>
          <p:nvPr/>
        </p:nvCxnSpPr>
        <p:spPr>
          <a:xfrm flipV="1">
            <a:off x="10294452" y="10205242"/>
            <a:ext cx="1099380" cy="10759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716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9217065" y="8353889"/>
            <a:ext cx="12636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FJSPClassRegister</a:t>
            </a:r>
            <a:endParaRPr lang="es-ES" sz="1200" dirty="0">
              <a:solidFill>
                <a:srgbClr val="00B050"/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4974165" y="7654085"/>
            <a:ext cx="6963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Encoder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8921515" y="10601162"/>
            <a:ext cx="7150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Creation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7702580" y="10601162"/>
            <a:ext cx="7987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FF0000"/>
                </a:solidFill>
              </a:rPr>
              <a:t>Crossover</a:t>
            </a:r>
          </a:p>
        </p:txBody>
      </p:sp>
      <p:sp>
        <p:nvSpPr>
          <p:cNvPr id="27" name="CuadroTexto 26"/>
          <p:cNvSpPr txBox="1"/>
          <p:nvPr/>
        </p:nvSpPr>
        <p:spPr>
          <a:xfrm>
            <a:off x="7232612" y="8367537"/>
            <a:ext cx="7123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Decoder</a:t>
            </a:r>
            <a:endParaRPr lang="es-ES" sz="1200" dirty="0">
              <a:solidFill>
                <a:srgbClr val="FF0000"/>
              </a:solidFill>
            </a:endParaRPr>
          </a:p>
        </p:txBody>
      </p:sp>
      <p:cxnSp>
        <p:nvCxnSpPr>
          <p:cNvPr id="28" name="Conector recto de flecha 27"/>
          <p:cNvCxnSpPr>
            <a:stCxn id="27" idx="0"/>
            <a:endCxn id="6" idx="2"/>
          </p:cNvCxnSpPr>
          <p:nvPr/>
        </p:nvCxnSpPr>
        <p:spPr>
          <a:xfrm flipH="1" flipV="1">
            <a:off x="5322337" y="7931084"/>
            <a:ext cx="2266462" cy="4364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uadroTexto 34"/>
          <p:cNvSpPr txBox="1"/>
          <p:nvPr/>
        </p:nvSpPr>
        <p:spPr>
          <a:xfrm>
            <a:off x="5415908" y="2557818"/>
            <a:ext cx="10192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TimeWindow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7264391" y="1726971"/>
            <a:ext cx="4299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FF0000"/>
                </a:solidFill>
              </a:rPr>
              <a:t>TFN</a:t>
            </a:r>
          </a:p>
        </p:txBody>
      </p:sp>
      <p:cxnSp>
        <p:nvCxnSpPr>
          <p:cNvPr id="41" name="Conector recto de flecha 40"/>
          <p:cNvCxnSpPr>
            <a:stCxn id="35" idx="0"/>
            <a:endCxn id="37" idx="2"/>
          </p:cNvCxnSpPr>
          <p:nvPr/>
        </p:nvCxnSpPr>
        <p:spPr>
          <a:xfrm flipV="1">
            <a:off x="5925534" y="2003969"/>
            <a:ext cx="1553820" cy="5538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uadroTexto 43"/>
          <p:cNvSpPr txBox="1"/>
          <p:nvPr/>
        </p:nvSpPr>
        <p:spPr>
          <a:xfrm>
            <a:off x="5007781" y="3400047"/>
            <a:ext cx="1835502" cy="27699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7030A0"/>
                </a:solidFill>
              </a:rPr>
              <a:t>TimeWindowClassRegister</a:t>
            </a:r>
            <a:endParaRPr lang="es-ES" sz="1200" dirty="0">
              <a:solidFill>
                <a:srgbClr val="7030A0"/>
              </a:solidFill>
            </a:endParaRPr>
          </a:p>
        </p:txBody>
      </p:sp>
      <p:cxnSp>
        <p:nvCxnSpPr>
          <p:cNvPr id="45" name="Conector recto de flecha 44"/>
          <p:cNvCxnSpPr>
            <a:stCxn id="44" idx="0"/>
            <a:endCxn id="35" idx="2"/>
          </p:cNvCxnSpPr>
          <p:nvPr/>
        </p:nvCxnSpPr>
        <p:spPr>
          <a:xfrm flipV="1">
            <a:off x="5925532" y="2834816"/>
            <a:ext cx="2" cy="5652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/>
          <p:cNvSpPr txBox="1"/>
          <p:nvPr/>
        </p:nvSpPr>
        <p:spPr>
          <a:xfrm>
            <a:off x="2824351" y="5996376"/>
            <a:ext cx="8799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SharedVars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9351573" y="5996376"/>
            <a:ext cx="1013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ScheduleFJSP</a:t>
            </a:r>
            <a:endParaRPr lang="es-ES" sz="1200" dirty="0">
              <a:solidFill>
                <a:srgbClr val="00B050"/>
              </a:solidFill>
            </a:endParaRPr>
          </a:p>
        </p:txBody>
      </p:sp>
      <p:sp>
        <p:nvSpPr>
          <p:cNvPr id="60" name="CuadroTexto 59"/>
          <p:cNvSpPr txBox="1"/>
          <p:nvPr/>
        </p:nvSpPr>
        <p:spPr>
          <a:xfrm>
            <a:off x="11118516" y="9163428"/>
            <a:ext cx="8330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Evaluation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67" name="CuadroTexto 66"/>
          <p:cNvSpPr txBox="1"/>
          <p:nvPr/>
        </p:nvSpPr>
        <p:spPr>
          <a:xfrm>
            <a:off x="10022040" y="11317860"/>
            <a:ext cx="1649298" cy="27699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7030A0"/>
                </a:solidFill>
              </a:rPr>
              <a:t>EvaluationClassRegister</a:t>
            </a:r>
            <a:endParaRPr lang="es-ES" sz="1200" dirty="0">
              <a:solidFill>
                <a:srgbClr val="7030A0"/>
              </a:solidFill>
            </a:endParaRPr>
          </a:p>
        </p:txBody>
      </p:sp>
      <p:cxnSp>
        <p:nvCxnSpPr>
          <p:cNvPr id="68" name="Conector recto de flecha 67"/>
          <p:cNvCxnSpPr/>
          <p:nvPr/>
        </p:nvCxnSpPr>
        <p:spPr>
          <a:xfrm flipH="1" flipV="1">
            <a:off x="10728833" y="10213184"/>
            <a:ext cx="78571" cy="110467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CuadroTexto 76"/>
          <p:cNvSpPr txBox="1"/>
          <p:nvPr/>
        </p:nvSpPr>
        <p:spPr>
          <a:xfrm>
            <a:off x="9976860" y="12839408"/>
            <a:ext cx="12888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GeneticAlgorithm</a:t>
            </a:r>
            <a:endParaRPr lang="es-ES" sz="1200" dirty="0">
              <a:solidFill>
                <a:srgbClr val="FF0000"/>
              </a:solidFill>
            </a:endParaRPr>
          </a:p>
        </p:txBody>
      </p:sp>
      <p:cxnSp>
        <p:nvCxnSpPr>
          <p:cNvPr id="96" name="Conector recto de flecha 95"/>
          <p:cNvCxnSpPr>
            <a:stCxn id="95" idx="0"/>
            <a:endCxn id="67" idx="2"/>
          </p:cNvCxnSpPr>
          <p:nvPr/>
        </p:nvCxnSpPr>
        <p:spPr>
          <a:xfrm flipH="1" flipV="1">
            <a:off x="10846690" y="11594858"/>
            <a:ext cx="837033" cy="59449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CuadroTexto 94"/>
          <p:cNvSpPr txBox="1"/>
          <p:nvPr/>
        </p:nvSpPr>
        <p:spPr>
          <a:xfrm>
            <a:off x="10997220" y="12189353"/>
            <a:ext cx="13730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EvolutiveAlgorithm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108" name="CuadroTexto 107"/>
          <p:cNvSpPr txBox="1"/>
          <p:nvPr/>
        </p:nvSpPr>
        <p:spPr>
          <a:xfrm>
            <a:off x="9492340" y="4145473"/>
            <a:ext cx="715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TaskFJSP</a:t>
            </a:r>
            <a:endParaRPr lang="es-ES" sz="1200" dirty="0">
              <a:solidFill>
                <a:srgbClr val="00B050"/>
              </a:solidFill>
            </a:endParaRPr>
          </a:p>
        </p:txBody>
      </p:sp>
      <p:sp>
        <p:nvSpPr>
          <p:cNvPr id="109" name="CuadroTexto 108"/>
          <p:cNvSpPr txBox="1"/>
          <p:nvPr/>
        </p:nvSpPr>
        <p:spPr>
          <a:xfrm>
            <a:off x="5569155" y="4145473"/>
            <a:ext cx="7127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Problem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110" name="CuadroTexto 109"/>
          <p:cNvSpPr txBox="1"/>
          <p:nvPr/>
        </p:nvSpPr>
        <p:spPr>
          <a:xfrm>
            <a:off x="9368475" y="5167817"/>
            <a:ext cx="9754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ProblemFJSP</a:t>
            </a:r>
            <a:endParaRPr lang="es-ES" sz="1200" dirty="0">
              <a:solidFill>
                <a:srgbClr val="00B050"/>
              </a:solidFill>
            </a:endParaRPr>
          </a:p>
        </p:txBody>
      </p:sp>
      <p:cxnSp>
        <p:nvCxnSpPr>
          <p:cNvPr id="111" name="Conector recto de flecha 110"/>
          <p:cNvCxnSpPr>
            <a:stCxn id="110" idx="0"/>
            <a:endCxn id="108" idx="2"/>
          </p:cNvCxnSpPr>
          <p:nvPr/>
        </p:nvCxnSpPr>
        <p:spPr>
          <a:xfrm flipH="1" flipV="1">
            <a:off x="9850259" y="4422472"/>
            <a:ext cx="5947" cy="74534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cto de flecha 113"/>
          <p:cNvCxnSpPr>
            <a:stCxn id="109" idx="0"/>
            <a:endCxn id="44" idx="2"/>
          </p:cNvCxnSpPr>
          <p:nvPr/>
        </p:nvCxnSpPr>
        <p:spPr>
          <a:xfrm flipH="1" flipV="1">
            <a:off x="5925532" y="3677046"/>
            <a:ext cx="2" cy="46842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ector recto de flecha 116"/>
          <p:cNvCxnSpPr>
            <a:stCxn id="110" idx="0"/>
            <a:endCxn id="109" idx="2"/>
          </p:cNvCxnSpPr>
          <p:nvPr/>
        </p:nvCxnSpPr>
        <p:spPr>
          <a:xfrm flipH="1" flipV="1">
            <a:off x="5925535" y="4422472"/>
            <a:ext cx="3930671" cy="74534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CuadroTexto 120"/>
          <p:cNvSpPr txBox="1"/>
          <p:nvPr/>
        </p:nvSpPr>
        <p:spPr>
          <a:xfrm>
            <a:off x="5300603" y="5167817"/>
            <a:ext cx="700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Solution</a:t>
            </a:r>
            <a:endParaRPr lang="es-ES" sz="1200" dirty="0">
              <a:solidFill>
                <a:srgbClr val="FF0000"/>
              </a:solidFill>
            </a:endParaRPr>
          </a:p>
        </p:txBody>
      </p:sp>
      <p:cxnSp>
        <p:nvCxnSpPr>
          <p:cNvPr id="169" name="Conector recto de flecha 168"/>
          <p:cNvCxnSpPr>
            <a:stCxn id="49" idx="0"/>
            <a:endCxn id="110" idx="2"/>
          </p:cNvCxnSpPr>
          <p:nvPr/>
        </p:nvCxnSpPr>
        <p:spPr>
          <a:xfrm flipH="1" flipV="1">
            <a:off x="9856206" y="5444815"/>
            <a:ext cx="1981" cy="55156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Conector recto de flecha 171"/>
          <p:cNvCxnSpPr>
            <a:stCxn id="49" idx="0"/>
            <a:endCxn id="121" idx="2"/>
          </p:cNvCxnSpPr>
          <p:nvPr/>
        </p:nvCxnSpPr>
        <p:spPr>
          <a:xfrm flipH="1" flipV="1">
            <a:off x="5651020" y="5444815"/>
            <a:ext cx="4207167" cy="5515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CuadroTexto 183"/>
          <p:cNvSpPr txBox="1"/>
          <p:nvPr/>
        </p:nvSpPr>
        <p:spPr>
          <a:xfrm>
            <a:off x="9467293" y="6886438"/>
            <a:ext cx="7631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rgbClr val="00B050"/>
                </a:solidFill>
              </a:rPr>
              <a:t>SGS_FJSP</a:t>
            </a:r>
            <a:endParaRPr lang="es-ES" sz="1200" dirty="0">
              <a:solidFill>
                <a:srgbClr val="00B050"/>
              </a:solidFill>
            </a:endParaRPr>
          </a:p>
        </p:txBody>
      </p:sp>
      <p:cxnSp>
        <p:nvCxnSpPr>
          <p:cNvPr id="185" name="Conector recto de flecha 184"/>
          <p:cNvCxnSpPr>
            <a:stCxn id="184" idx="0"/>
            <a:endCxn id="49" idx="2"/>
          </p:cNvCxnSpPr>
          <p:nvPr/>
        </p:nvCxnSpPr>
        <p:spPr>
          <a:xfrm flipV="1">
            <a:off x="9848872" y="6273375"/>
            <a:ext cx="9314" cy="61306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ector recto de flecha 187"/>
          <p:cNvCxnSpPr>
            <a:stCxn id="184" idx="0"/>
            <a:endCxn id="48" idx="2"/>
          </p:cNvCxnSpPr>
          <p:nvPr/>
        </p:nvCxnSpPr>
        <p:spPr>
          <a:xfrm flipH="1" flipV="1">
            <a:off x="3264312" y="6273375"/>
            <a:ext cx="6584561" cy="6130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Conector recto de flecha 190"/>
          <p:cNvCxnSpPr>
            <a:stCxn id="108" idx="0"/>
            <a:endCxn id="37" idx="2"/>
          </p:cNvCxnSpPr>
          <p:nvPr/>
        </p:nvCxnSpPr>
        <p:spPr>
          <a:xfrm flipH="1" flipV="1">
            <a:off x="7479354" y="2003970"/>
            <a:ext cx="2370904" cy="21415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CuadroTexto 219"/>
          <p:cNvSpPr txBox="1"/>
          <p:nvPr/>
        </p:nvSpPr>
        <p:spPr>
          <a:xfrm>
            <a:off x="4636787" y="11317860"/>
            <a:ext cx="7585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Selection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221" name="CuadroTexto 220"/>
          <p:cNvSpPr txBox="1"/>
          <p:nvPr/>
        </p:nvSpPr>
        <p:spPr>
          <a:xfrm>
            <a:off x="6762010" y="11317860"/>
            <a:ext cx="766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Mutation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222" name="CuadroTexto 221"/>
          <p:cNvSpPr txBox="1"/>
          <p:nvPr/>
        </p:nvSpPr>
        <p:spPr>
          <a:xfrm>
            <a:off x="5598858" y="11317860"/>
            <a:ext cx="10045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Replacement</a:t>
            </a:r>
            <a:endParaRPr lang="es-ES" sz="1200" dirty="0">
              <a:solidFill>
                <a:srgbClr val="FF0000"/>
              </a:solidFill>
            </a:endParaRPr>
          </a:p>
        </p:txBody>
      </p:sp>
      <p:cxnSp>
        <p:nvCxnSpPr>
          <p:cNvPr id="226" name="Conector recto de flecha 225"/>
          <p:cNvCxnSpPr>
            <a:stCxn id="225" idx="0"/>
            <a:endCxn id="588" idx="2"/>
          </p:cNvCxnSpPr>
          <p:nvPr/>
        </p:nvCxnSpPr>
        <p:spPr>
          <a:xfrm flipV="1">
            <a:off x="7588798" y="11594858"/>
            <a:ext cx="1690221" cy="59449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CuadroTexto 222"/>
          <p:cNvSpPr txBox="1"/>
          <p:nvPr/>
        </p:nvSpPr>
        <p:spPr>
          <a:xfrm>
            <a:off x="12222507" y="9936187"/>
            <a:ext cx="735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Statistics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225" name="CuadroTexto 224"/>
          <p:cNvSpPr txBox="1"/>
          <p:nvPr/>
        </p:nvSpPr>
        <p:spPr>
          <a:xfrm>
            <a:off x="6846703" y="12189353"/>
            <a:ext cx="1484189" cy="27699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7030A0"/>
                </a:solidFill>
              </a:rPr>
              <a:t>GeneticClassRegister</a:t>
            </a:r>
            <a:endParaRPr lang="es-ES" sz="1200" dirty="0">
              <a:solidFill>
                <a:srgbClr val="7030A0"/>
              </a:solidFill>
            </a:endParaRPr>
          </a:p>
        </p:txBody>
      </p:sp>
      <p:cxnSp>
        <p:nvCxnSpPr>
          <p:cNvPr id="231" name="Conector recto de flecha 230"/>
          <p:cNvCxnSpPr>
            <a:stCxn id="225" idx="0"/>
            <a:endCxn id="576" idx="2"/>
          </p:cNvCxnSpPr>
          <p:nvPr/>
        </p:nvCxnSpPr>
        <p:spPr>
          <a:xfrm flipV="1">
            <a:off x="7588798" y="11594858"/>
            <a:ext cx="513155" cy="59449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Conector recto de flecha 233"/>
          <p:cNvCxnSpPr>
            <a:stCxn id="225" idx="0"/>
            <a:endCxn id="220" idx="2"/>
          </p:cNvCxnSpPr>
          <p:nvPr/>
        </p:nvCxnSpPr>
        <p:spPr>
          <a:xfrm flipH="1" flipV="1">
            <a:off x="5016057" y="11594858"/>
            <a:ext cx="2572740" cy="5944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onector recto de flecha 236"/>
          <p:cNvCxnSpPr>
            <a:stCxn id="225" idx="0"/>
            <a:endCxn id="221" idx="2"/>
          </p:cNvCxnSpPr>
          <p:nvPr/>
        </p:nvCxnSpPr>
        <p:spPr>
          <a:xfrm flipH="1" flipV="1">
            <a:off x="7145257" y="11594858"/>
            <a:ext cx="443541" cy="5944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Conector recto de flecha 239"/>
          <p:cNvCxnSpPr>
            <a:stCxn id="225" idx="0"/>
            <a:endCxn id="222" idx="2"/>
          </p:cNvCxnSpPr>
          <p:nvPr/>
        </p:nvCxnSpPr>
        <p:spPr>
          <a:xfrm flipH="1" flipV="1">
            <a:off x="6101111" y="11594858"/>
            <a:ext cx="1487686" cy="5944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onector recto de flecha 242"/>
          <p:cNvCxnSpPr>
            <a:stCxn id="225" idx="0"/>
            <a:endCxn id="27" idx="2"/>
          </p:cNvCxnSpPr>
          <p:nvPr/>
        </p:nvCxnSpPr>
        <p:spPr>
          <a:xfrm flipV="1">
            <a:off x="7588797" y="8644536"/>
            <a:ext cx="2" cy="35448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Conector recto de flecha 245"/>
          <p:cNvCxnSpPr>
            <a:stCxn id="77" idx="0"/>
            <a:endCxn id="225" idx="2"/>
          </p:cNvCxnSpPr>
          <p:nvPr/>
        </p:nvCxnSpPr>
        <p:spPr>
          <a:xfrm flipH="1" flipV="1">
            <a:off x="7588797" y="12466351"/>
            <a:ext cx="3032502" cy="37305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" name="Conector recto de flecha 521"/>
          <p:cNvCxnSpPr>
            <a:stCxn id="5" idx="0"/>
            <a:endCxn id="227" idx="2"/>
          </p:cNvCxnSpPr>
          <p:nvPr/>
        </p:nvCxnSpPr>
        <p:spPr>
          <a:xfrm flipH="1" flipV="1">
            <a:off x="8490247" y="7931084"/>
            <a:ext cx="1358627" cy="42280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Conector recto de flecha 546"/>
          <p:cNvCxnSpPr>
            <a:stCxn id="48" idx="0"/>
            <a:endCxn id="109" idx="2"/>
          </p:cNvCxnSpPr>
          <p:nvPr/>
        </p:nvCxnSpPr>
        <p:spPr>
          <a:xfrm flipV="1">
            <a:off x="3264312" y="4422471"/>
            <a:ext cx="2661223" cy="15739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Conector recto de flecha 555"/>
          <p:cNvCxnSpPr>
            <a:stCxn id="223" idx="0"/>
            <a:endCxn id="60" idx="2"/>
          </p:cNvCxnSpPr>
          <p:nvPr/>
        </p:nvCxnSpPr>
        <p:spPr>
          <a:xfrm flipH="1" flipV="1">
            <a:off x="11535040" y="9440426"/>
            <a:ext cx="1055420" cy="495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CuadroTexto 86"/>
          <p:cNvSpPr txBox="1"/>
          <p:nvPr/>
        </p:nvSpPr>
        <p:spPr>
          <a:xfrm>
            <a:off x="2398986" y="12839408"/>
            <a:ext cx="1737976" cy="27699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7030A0"/>
                </a:solidFill>
              </a:rPr>
              <a:t>LocalSearchClassRegister</a:t>
            </a:r>
            <a:endParaRPr lang="es-ES" sz="1200" dirty="0">
              <a:solidFill>
                <a:srgbClr val="7030A0"/>
              </a:solidFill>
            </a:endParaRPr>
          </a:p>
        </p:txBody>
      </p:sp>
      <p:sp>
        <p:nvSpPr>
          <p:cNvPr id="88" name="CuadroTexto 87"/>
          <p:cNvSpPr txBox="1"/>
          <p:nvPr/>
        </p:nvSpPr>
        <p:spPr>
          <a:xfrm>
            <a:off x="3940906" y="12189353"/>
            <a:ext cx="9217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LocalSearch</a:t>
            </a:r>
            <a:endParaRPr lang="es-ES" sz="1200" dirty="0">
              <a:solidFill>
                <a:srgbClr val="FF0000"/>
              </a:solidFill>
            </a:endParaRPr>
          </a:p>
        </p:txBody>
      </p:sp>
      <p:cxnSp>
        <p:nvCxnSpPr>
          <p:cNvPr id="89" name="Conector recto de flecha 88"/>
          <p:cNvCxnSpPr>
            <a:stCxn id="87" idx="0"/>
            <a:endCxn id="88" idx="2"/>
          </p:cNvCxnSpPr>
          <p:nvPr/>
        </p:nvCxnSpPr>
        <p:spPr>
          <a:xfrm flipV="1">
            <a:off x="3267975" y="12466351"/>
            <a:ext cx="1133795" cy="3730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uadroTexto 92"/>
          <p:cNvSpPr txBox="1"/>
          <p:nvPr/>
        </p:nvSpPr>
        <p:spPr>
          <a:xfrm>
            <a:off x="2684323" y="11317860"/>
            <a:ext cx="11673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Neighbourhood</a:t>
            </a:r>
            <a:endParaRPr lang="es-ES" sz="1200" dirty="0">
              <a:solidFill>
                <a:srgbClr val="FF0000"/>
              </a:solidFill>
            </a:endParaRPr>
          </a:p>
        </p:txBody>
      </p:sp>
      <p:cxnSp>
        <p:nvCxnSpPr>
          <p:cNvPr id="94" name="Conector recto de flecha 93"/>
          <p:cNvCxnSpPr>
            <a:stCxn id="88" idx="0"/>
            <a:endCxn id="93" idx="2"/>
          </p:cNvCxnSpPr>
          <p:nvPr/>
        </p:nvCxnSpPr>
        <p:spPr>
          <a:xfrm flipH="1" flipV="1">
            <a:off x="3267977" y="11594858"/>
            <a:ext cx="1133793" cy="5944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CuadroTexto 112"/>
          <p:cNvSpPr txBox="1"/>
          <p:nvPr/>
        </p:nvSpPr>
        <p:spPr>
          <a:xfrm>
            <a:off x="1358278" y="10601162"/>
            <a:ext cx="843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Neighbour</a:t>
            </a:r>
            <a:endParaRPr lang="es-ES" sz="1200" dirty="0">
              <a:solidFill>
                <a:srgbClr val="FF0000"/>
              </a:solidFill>
            </a:endParaRPr>
          </a:p>
        </p:txBody>
      </p:sp>
      <p:sp>
        <p:nvSpPr>
          <p:cNvPr id="120" name="CuadroTexto 119"/>
          <p:cNvSpPr txBox="1"/>
          <p:nvPr/>
        </p:nvSpPr>
        <p:spPr>
          <a:xfrm>
            <a:off x="6671811" y="13663083"/>
            <a:ext cx="13658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FF0000"/>
                </a:solidFill>
              </a:rPr>
              <a:t>MemeticAlgorithm</a:t>
            </a:r>
            <a:endParaRPr lang="es-ES" sz="1200" dirty="0">
              <a:solidFill>
                <a:srgbClr val="FF0000"/>
              </a:solidFill>
            </a:endParaRPr>
          </a:p>
        </p:txBody>
      </p:sp>
      <p:cxnSp>
        <p:nvCxnSpPr>
          <p:cNvPr id="122" name="Conector recto de flecha 121"/>
          <p:cNvCxnSpPr>
            <a:stCxn id="120" idx="0"/>
            <a:endCxn id="87" idx="2"/>
          </p:cNvCxnSpPr>
          <p:nvPr/>
        </p:nvCxnSpPr>
        <p:spPr>
          <a:xfrm flipH="1" flipV="1">
            <a:off x="3267974" y="13116406"/>
            <a:ext cx="4086748" cy="54667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ector recto de flecha 123"/>
          <p:cNvCxnSpPr>
            <a:stCxn id="120" idx="0"/>
            <a:endCxn id="77" idx="2"/>
          </p:cNvCxnSpPr>
          <p:nvPr/>
        </p:nvCxnSpPr>
        <p:spPr>
          <a:xfrm flipV="1">
            <a:off x="7354723" y="13116406"/>
            <a:ext cx="3266577" cy="5466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CuadroTexto 98"/>
          <p:cNvSpPr txBox="1"/>
          <p:nvPr/>
        </p:nvSpPr>
        <p:spPr>
          <a:xfrm>
            <a:off x="10878153" y="4145473"/>
            <a:ext cx="10571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FJSPException</a:t>
            </a:r>
            <a:endParaRPr lang="es-ES" sz="1200" dirty="0">
              <a:solidFill>
                <a:srgbClr val="00B050"/>
              </a:solidFill>
            </a:endParaRPr>
          </a:p>
        </p:txBody>
      </p:sp>
      <p:cxnSp>
        <p:nvCxnSpPr>
          <p:cNvPr id="116" name="Conector recto de flecha 115"/>
          <p:cNvCxnSpPr>
            <a:stCxn id="110" idx="0"/>
            <a:endCxn id="99" idx="2"/>
          </p:cNvCxnSpPr>
          <p:nvPr/>
        </p:nvCxnSpPr>
        <p:spPr>
          <a:xfrm flipV="1">
            <a:off x="9856205" y="4422472"/>
            <a:ext cx="1550522" cy="74534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CuadroTexto 223"/>
          <p:cNvSpPr txBox="1"/>
          <p:nvPr/>
        </p:nvSpPr>
        <p:spPr>
          <a:xfrm>
            <a:off x="10499385" y="7654085"/>
            <a:ext cx="13979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SGS_FJSP_Insertion</a:t>
            </a:r>
            <a:endParaRPr lang="es-ES" sz="1200" dirty="0">
              <a:solidFill>
                <a:srgbClr val="00B050"/>
              </a:solidFill>
            </a:endParaRPr>
          </a:p>
        </p:txBody>
      </p:sp>
      <p:sp>
        <p:nvSpPr>
          <p:cNvPr id="227" name="CuadroTexto 226"/>
          <p:cNvSpPr txBox="1"/>
          <p:nvPr/>
        </p:nvSpPr>
        <p:spPr>
          <a:xfrm>
            <a:off x="7826539" y="7654085"/>
            <a:ext cx="13274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SGS_FJSP_Append</a:t>
            </a:r>
            <a:endParaRPr lang="es-ES" sz="1200" dirty="0">
              <a:solidFill>
                <a:srgbClr val="00B050"/>
              </a:solidFill>
            </a:endParaRPr>
          </a:p>
        </p:txBody>
      </p:sp>
      <p:cxnSp>
        <p:nvCxnSpPr>
          <p:cNvPr id="228" name="Conector recto de flecha 227"/>
          <p:cNvCxnSpPr>
            <a:stCxn id="227" idx="0"/>
            <a:endCxn id="184" idx="2"/>
          </p:cNvCxnSpPr>
          <p:nvPr/>
        </p:nvCxnSpPr>
        <p:spPr>
          <a:xfrm flipV="1">
            <a:off x="8490246" y="7163436"/>
            <a:ext cx="1358626" cy="49064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ector recto de flecha 229"/>
          <p:cNvCxnSpPr>
            <a:stCxn id="224" idx="0"/>
            <a:endCxn id="184" idx="2"/>
          </p:cNvCxnSpPr>
          <p:nvPr/>
        </p:nvCxnSpPr>
        <p:spPr>
          <a:xfrm flipH="1" flipV="1">
            <a:off x="9848872" y="7163436"/>
            <a:ext cx="1349486" cy="49064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Conector recto de flecha 263"/>
          <p:cNvCxnSpPr>
            <a:stCxn id="5" idx="0"/>
            <a:endCxn id="224" idx="2"/>
          </p:cNvCxnSpPr>
          <p:nvPr/>
        </p:nvCxnSpPr>
        <p:spPr>
          <a:xfrm flipV="1">
            <a:off x="9848874" y="7931084"/>
            <a:ext cx="1349485" cy="42280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CuadroTexto 300"/>
          <p:cNvSpPr txBox="1"/>
          <p:nvPr/>
        </p:nvSpPr>
        <p:spPr>
          <a:xfrm>
            <a:off x="4842816" y="8394832"/>
            <a:ext cx="9590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EncoderFJSP</a:t>
            </a:r>
            <a:endParaRPr lang="es-ES" sz="1200" dirty="0">
              <a:solidFill>
                <a:srgbClr val="00B050"/>
              </a:solidFill>
            </a:endParaRPr>
          </a:p>
        </p:txBody>
      </p:sp>
      <p:cxnSp>
        <p:nvCxnSpPr>
          <p:cNvPr id="302" name="Conector recto de flecha 301"/>
          <p:cNvCxnSpPr/>
          <p:nvPr/>
        </p:nvCxnSpPr>
        <p:spPr>
          <a:xfrm flipH="1" flipV="1">
            <a:off x="5322338" y="7931085"/>
            <a:ext cx="1" cy="4637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Conector recto de flecha 305"/>
          <p:cNvCxnSpPr>
            <a:stCxn id="301" idx="0"/>
            <a:endCxn id="49" idx="2"/>
          </p:cNvCxnSpPr>
          <p:nvPr/>
        </p:nvCxnSpPr>
        <p:spPr>
          <a:xfrm flipV="1">
            <a:off x="5322338" y="6273375"/>
            <a:ext cx="4535848" cy="212145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2" name="CuadroTexto 321"/>
          <p:cNvSpPr txBox="1"/>
          <p:nvPr/>
        </p:nvSpPr>
        <p:spPr>
          <a:xfrm>
            <a:off x="9361337" y="9163428"/>
            <a:ext cx="9750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DecoderFJSP</a:t>
            </a:r>
            <a:endParaRPr lang="es-ES" sz="1200" dirty="0">
              <a:solidFill>
                <a:srgbClr val="00B050"/>
              </a:solidFill>
            </a:endParaRPr>
          </a:p>
        </p:txBody>
      </p:sp>
      <p:cxnSp>
        <p:nvCxnSpPr>
          <p:cNvPr id="323" name="Conector recto de flecha 322"/>
          <p:cNvCxnSpPr>
            <a:stCxn id="322" idx="0"/>
            <a:endCxn id="301" idx="2"/>
          </p:cNvCxnSpPr>
          <p:nvPr/>
        </p:nvCxnSpPr>
        <p:spPr>
          <a:xfrm flipH="1" flipV="1">
            <a:off x="5322338" y="8671831"/>
            <a:ext cx="4526536" cy="49159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Conector recto de flecha 332"/>
          <p:cNvCxnSpPr>
            <a:stCxn id="322" idx="0"/>
            <a:endCxn id="27" idx="2"/>
          </p:cNvCxnSpPr>
          <p:nvPr/>
        </p:nvCxnSpPr>
        <p:spPr>
          <a:xfrm flipH="1" flipV="1">
            <a:off x="7588800" y="8644535"/>
            <a:ext cx="2260075" cy="5188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Conector recto de flecha 335"/>
          <p:cNvCxnSpPr>
            <a:stCxn id="322" idx="0"/>
            <a:endCxn id="5" idx="2"/>
          </p:cNvCxnSpPr>
          <p:nvPr/>
        </p:nvCxnSpPr>
        <p:spPr>
          <a:xfrm flipH="1" flipV="1">
            <a:off x="9848874" y="8630887"/>
            <a:ext cx="1" cy="53254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0" name="CuadroTexto 369"/>
          <p:cNvSpPr txBox="1"/>
          <p:nvPr/>
        </p:nvSpPr>
        <p:spPr>
          <a:xfrm>
            <a:off x="10220243" y="9936187"/>
            <a:ext cx="10957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EvaluationFJSP</a:t>
            </a:r>
            <a:endParaRPr lang="es-ES" sz="1200" dirty="0">
              <a:solidFill>
                <a:srgbClr val="00B050"/>
              </a:solidFill>
            </a:endParaRPr>
          </a:p>
        </p:txBody>
      </p:sp>
      <p:cxnSp>
        <p:nvCxnSpPr>
          <p:cNvPr id="371" name="Conector recto de flecha 370"/>
          <p:cNvCxnSpPr>
            <a:stCxn id="370" idx="0"/>
            <a:endCxn id="60" idx="2"/>
          </p:cNvCxnSpPr>
          <p:nvPr/>
        </p:nvCxnSpPr>
        <p:spPr>
          <a:xfrm flipV="1">
            <a:off x="10768118" y="9440426"/>
            <a:ext cx="766923" cy="4957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Conector recto de flecha 379"/>
          <p:cNvCxnSpPr>
            <a:stCxn id="370" idx="0"/>
            <a:endCxn id="322" idx="2"/>
          </p:cNvCxnSpPr>
          <p:nvPr/>
        </p:nvCxnSpPr>
        <p:spPr>
          <a:xfrm flipH="1" flipV="1">
            <a:off x="9848875" y="9440426"/>
            <a:ext cx="919243" cy="49576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6" name="CuadroTexto 575"/>
          <p:cNvSpPr txBox="1"/>
          <p:nvPr/>
        </p:nvSpPr>
        <p:spPr>
          <a:xfrm>
            <a:off x="7571230" y="11317860"/>
            <a:ext cx="10614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CrossoverFJSP</a:t>
            </a:r>
            <a:endParaRPr lang="es-ES" sz="1200" dirty="0">
              <a:solidFill>
                <a:srgbClr val="00B050"/>
              </a:solidFill>
            </a:endParaRPr>
          </a:p>
        </p:txBody>
      </p:sp>
      <p:cxnSp>
        <p:nvCxnSpPr>
          <p:cNvPr id="577" name="Conector recto de flecha 576"/>
          <p:cNvCxnSpPr>
            <a:stCxn id="576" idx="0"/>
            <a:endCxn id="17" idx="2"/>
          </p:cNvCxnSpPr>
          <p:nvPr/>
        </p:nvCxnSpPr>
        <p:spPr>
          <a:xfrm flipV="1">
            <a:off x="8101952" y="10878161"/>
            <a:ext cx="0" cy="4396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Conector recto de flecha 577"/>
          <p:cNvCxnSpPr>
            <a:stCxn id="576" idx="0"/>
            <a:endCxn id="301" idx="2"/>
          </p:cNvCxnSpPr>
          <p:nvPr/>
        </p:nvCxnSpPr>
        <p:spPr>
          <a:xfrm flipH="1" flipV="1">
            <a:off x="5322338" y="8671831"/>
            <a:ext cx="2779614" cy="264602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8" name="CuadroTexto 587"/>
          <p:cNvSpPr txBox="1"/>
          <p:nvPr/>
        </p:nvSpPr>
        <p:spPr>
          <a:xfrm>
            <a:off x="8790166" y="11317860"/>
            <a:ext cx="977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CreationFJSP</a:t>
            </a:r>
            <a:endParaRPr lang="es-ES" sz="1200" dirty="0">
              <a:solidFill>
                <a:srgbClr val="00B050"/>
              </a:solidFill>
            </a:endParaRPr>
          </a:p>
        </p:txBody>
      </p:sp>
      <p:cxnSp>
        <p:nvCxnSpPr>
          <p:cNvPr id="590" name="Conector recto de flecha 589"/>
          <p:cNvCxnSpPr>
            <a:stCxn id="588" idx="0"/>
            <a:endCxn id="7" idx="2"/>
          </p:cNvCxnSpPr>
          <p:nvPr/>
        </p:nvCxnSpPr>
        <p:spPr>
          <a:xfrm flipH="1" flipV="1">
            <a:off x="9279018" y="10878161"/>
            <a:ext cx="1" cy="4396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6" name="CuadroTexto 615"/>
          <p:cNvSpPr txBox="1"/>
          <p:nvPr/>
        </p:nvSpPr>
        <p:spPr>
          <a:xfrm>
            <a:off x="12091156" y="10601162"/>
            <a:ext cx="9986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StatisticsFJSP</a:t>
            </a:r>
            <a:endParaRPr lang="es-ES" sz="1200" dirty="0">
              <a:solidFill>
                <a:srgbClr val="00B050"/>
              </a:solidFill>
            </a:endParaRPr>
          </a:p>
        </p:txBody>
      </p:sp>
      <p:cxnSp>
        <p:nvCxnSpPr>
          <p:cNvPr id="617" name="Conector recto de flecha 616"/>
          <p:cNvCxnSpPr/>
          <p:nvPr/>
        </p:nvCxnSpPr>
        <p:spPr>
          <a:xfrm flipV="1">
            <a:off x="12590458" y="10213186"/>
            <a:ext cx="0" cy="3879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Conector recto de flecha 619"/>
          <p:cNvCxnSpPr>
            <a:stCxn id="616" idx="0"/>
            <a:endCxn id="370" idx="2"/>
          </p:cNvCxnSpPr>
          <p:nvPr/>
        </p:nvCxnSpPr>
        <p:spPr>
          <a:xfrm flipH="1" flipV="1">
            <a:off x="10768117" y="10213185"/>
            <a:ext cx="1822342" cy="38797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3" name="CuadroTexto 622"/>
          <p:cNvSpPr txBox="1"/>
          <p:nvPr/>
        </p:nvSpPr>
        <p:spPr>
          <a:xfrm>
            <a:off x="11814380" y="11317860"/>
            <a:ext cx="1552156" cy="27699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7030A0"/>
                </a:solidFill>
              </a:rPr>
              <a:t>StatisticsClassRegister</a:t>
            </a:r>
            <a:endParaRPr lang="es-ES" sz="1200" dirty="0">
              <a:solidFill>
                <a:srgbClr val="7030A0"/>
              </a:solidFill>
            </a:endParaRPr>
          </a:p>
        </p:txBody>
      </p:sp>
      <p:cxnSp>
        <p:nvCxnSpPr>
          <p:cNvPr id="624" name="Conector recto de flecha 623"/>
          <p:cNvCxnSpPr/>
          <p:nvPr/>
        </p:nvCxnSpPr>
        <p:spPr>
          <a:xfrm flipV="1">
            <a:off x="12590460" y="10878160"/>
            <a:ext cx="1" cy="439698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5" name="Conector recto de flecha 634"/>
          <p:cNvCxnSpPr>
            <a:stCxn id="95" idx="0"/>
            <a:endCxn id="623" idx="2"/>
          </p:cNvCxnSpPr>
          <p:nvPr/>
        </p:nvCxnSpPr>
        <p:spPr>
          <a:xfrm flipV="1">
            <a:off x="11683722" y="11594858"/>
            <a:ext cx="906736" cy="59449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3" name="Conector recto de flecha 642"/>
          <p:cNvCxnSpPr>
            <a:stCxn id="77" idx="0"/>
            <a:endCxn id="95" idx="2"/>
          </p:cNvCxnSpPr>
          <p:nvPr/>
        </p:nvCxnSpPr>
        <p:spPr>
          <a:xfrm flipV="1">
            <a:off x="10621300" y="12466351"/>
            <a:ext cx="1062423" cy="3730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6" name="CuadroTexto 645"/>
          <p:cNvSpPr txBox="1"/>
          <p:nvPr/>
        </p:nvSpPr>
        <p:spPr>
          <a:xfrm>
            <a:off x="1226927" y="11317860"/>
            <a:ext cx="11062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NeighbourFJSP</a:t>
            </a:r>
            <a:endParaRPr lang="es-ES" sz="1200" dirty="0">
              <a:solidFill>
                <a:srgbClr val="00B050"/>
              </a:solidFill>
            </a:endParaRPr>
          </a:p>
        </p:txBody>
      </p:sp>
      <p:cxnSp>
        <p:nvCxnSpPr>
          <p:cNvPr id="647" name="Conector recto de flecha 646"/>
          <p:cNvCxnSpPr>
            <a:stCxn id="646" idx="0"/>
            <a:endCxn id="49" idx="2"/>
          </p:cNvCxnSpPr>
          <p:nvPr/>
        </p:nvCxnSpPr>
        <p:spPr>
          <a:xfrm flipV="1">
            <a:off x="1780028" y="6273375"/>
            <a:ext cx="8078159" cy="504448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1" name="Conector recto de flecha 650"/>
          <p:cNvCxnSpPr/>
          <p:nvPr/>
        </p:nvCxnSpPr>
        <p:spPr>
          <a:xfrm flipV="1">
            <a:off x="1780029" y="10878160"/>
            <a:ext cx="1" cy="4396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4" name="Conector recto de flecha 653"/>
          <p:cNvCxnSpPr>
            <a:stCxn id="93" idx="0"/>
            <a:endCxn id="121" idx="2"/>
          </p:cNvCxnSpPr>
          <p:nvPr/>
        </p:nvCxnSpPr>
        <p:spPr>
          <a:xfrm flipV="1">
            <a:off x="3267977" y="5444815"/>
            <a:ext cx="2383043" cy="58730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7" name="Conector recto de flecha 656"/>
          <p:cNvCxnSpPr>
            <a:stCxn id="93" idx="0"/>
            <a:endCxn id="48" idx="2"/>
          </p:cNvCxnSpPr>
          <p:nvPr/>
        </p:nvCxnSpPr>
        <p:spPr>
          <a:xfrm flipH="1" flipV="1">
            <a:off x="3264312" y="6273375"/>
            <a:ext cx="3665" cy="50444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2" name="CuadroTexto 661"/>
          <p:cNvSpPr txBox="1"/>
          <p:nvPr/>
        </p:nvSpPr>
        <p:spPr>
          <a:xfrm>
            <a:off x="1412636" y="12189353"/>
            <a:ext cx="14300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 err="1">
                <a:solidFill>
                  <a:srgbClr val="00B050"/>
                </a:solidFill>
              </a:rPr>
              <a:t>NeighbourhoodFJSP</a:t>
            </a:r>
            <a:endParaRPr lang="es-ES" sz="1200" dirty="0">
              <a:solidFill>
                <a:srgbClr val="00B050"/>
              </a:solidFill>
            </a:endParaRPr>
          </a:p>
        </p:txBody>
      </p:sp>
      <p:cxnSp>
        <p:nvCxnSpPr>
          <p:cNvPr id="663" name="Conector recto de flecha 662"/>
          <p:cNvCxnSpPr>
            <a:stCxn id="662" idx="0"/>
            <a:endCxn id="646" idx="2"/>
          </p:cNvCxnSpPr>
          <p:nvPr/>
        </p:nvCxnSpPr>
        <p:spPr>
          <a:xfrm flipH="1" flipV="1">
            <a:off x="1780027" y="11594858"/>
            <a:ext cx="347612" cy="59449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7" name="Conector recto de flecha 666"/>
          <p:cNvCxnSpPr>
            <a:stCxn id="662" idx="0"/>
            <a:endCxn id="93" idx="2"/>
          </p:cNvCxnSpPr>
          <p:nvPr/>
        </p:nvCxnSpPr>
        <p:spPr>
          <a:xfrm flipV="1">
            <a:off x="2127640" y="11594858"/>
            <a:ext cx="1140337" cy="5944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0" name="Conector recto de flecha 679"/>
          <p:cNvCxnSpPr>
            <a:stCxn id="87" idx="0"/>
            <a:endCxn id="662" idx="2"/>
          </p:cNvCxnSpPr>
          <p:nvPr/>
        </p:nvCxnSpPr>
        <p:spPr>
          <a:xfrm flipH="1" flipV="1">
            <a:off x="2127640" y="12466351"/>
            <a:ext cx="1140335" cy="37305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5022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3326</TotalTime>
  <Words>135</Words>
  <Application>Microsoft Office PowerPoint</Application>
  <PresentationFormat>Personalizado</PresentationFormat>
  <Paragraphs>135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JOSE PALACIOS ALONSO</dc:creator>
  <cp:lastModifiedBy>JUAN JOSE PALACIOS ALONSO</cp:lastModifiedBy>
  <cp:revision>199</cp:revision>
  <dcterms:created xsi:type="dcterms:W3CDTF">2017-09-27T11:16:55Z</dcterms:created>
  <dcterms:modified xsi:type="dcterms:W3CDTF">2018-01-02T10:38:16Z</dcterms:modified>
</cp:coreProperties>
</file>